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IgniSense is a digital twin of a petrol engine that finds faults from sensor data alone. Everything you'll see runs live in this browser, with no server behind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Service on a fixed schedule either replaces parts that are still good or misses a part that fails early. Condition monitoring watches the engine itself. Our project shows how a monitor can do that from sensors alone.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engines run side by side. The Plant is the real engine and holds the hidden fault. The Twin is a healthy copy of the same physics that only sees the sensors. The gap between what the sensors read and what the twin expects is the evidence. The analytics can't see the fault, and a lint rule enforces that.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live twin page. The 3D engine is procedural and moved by the same slider-crank equation as the numbers; it is slowed 100 times so you can see it. On the right the health ring and the six subsystem scores.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gauge carries a ghost: the white tick is what a healthy engine would read right now, at the same speed, load and ambient. The delta turns coloured once it leaves the noise. The tachometer is a car-style dial. Click any number and you get the equation.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Inject any fault from the test bench. The sump and oil gallery pulse red, the ring drops and turns orange, and the card names the fault. Nothing on screen told the monitor which fault we chose. It found it in the sensors.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we inject an oil-pump fault, the monitor names it and lists the evidence. Notice we call it an evidence score, never a confidence percentage, because it is a weighted sum, not a calibrated probability.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CUSUM adds up small persistent shifts. A residual that sits at one sigma never crosses a three-sigma limit, but CUSUM passes its limit in about eleven samples. So the monitor warns before any fixed threshold trips.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misfire removes one power pulse every two revolutions. That repeats at half the crank frequency. The cylinders fire 180 degrees of crank apart, which is 90 degrees of phase at half order, so the phase of that half-order line points at the cylinder. And the torque command rises by exactly four thirds.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coolant reading jumps 25 degrees in a tenth of a second, either the engine did something impossible or the sensor failed. The fastest the coolant can heat is all the coolant heat at full load with no cooling: 81.5 kilowatts into 100 kilojoules per kelvin, so 0.8 K per second. The reading beat that by over 300 times. So we blame the sensor, not the engine.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number has an equation behind it, and you can click it. The drawer shows the chain with today's live numbers, and a check table that proves the result equals the gauge. We test that in six different engine states.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proof it isn't reading the injected fault. A visitor picks a sealed card; the fault is chosen inside the worker, and the page never learns what's on it. The monitor has to name it, and then we reveal.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remaining-life estimate is a straight-line trend with a plus or minus two standard error band, shown only when the slope is statistically real. Raise the load and the wear speeds up, so the remaining life shrinks. The one-page report prints to PDF.</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don't just claim the physics is right. The Validation page recomputes hand-calculated values live in the browser, and every one passes. There are also 363 automated tests, and every golden number from the research review reproduces within two percent.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source emits the same telemetry object, so adding real hardware means adding one adapter file. Replay of a recorded CSV is tested end to end and reproduces the diagnosis. ESP32 and OBD-II are tested against parsers and simulated streams, not yet real hardware.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would rather state the limits ourselves. The values are demo calibration, and the data is synthetic. The next step is a heat-balance run on a real engine rig to replace demo calibration with measured data.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Invite them to pick a card, or to name a fault for you to inject.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31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028700" y="941832"/>
            <a:ext cx="411480" cy="493775"/>
          </a:xfrm>
          <a:custGeom>
            <a:avLst/>
            <a:gdLst/>
            <a:ahLst/>
            <a:cxnLst/>
            <a:rect l="l" t="t" r="r" b="b"/>
            <a:pathLst>
              <a:path w="411480" h="493775">
                <a:moveTo>
                  <a:pt x="82296" y="0"/>
                </a:moveTo>
                <a:lnTo>
                  <a:pt x="411480" y="0"/>
                </a:lnTo>
                <a:lnTo>
                  <a:pt x="329184" y="493775"/>
                </a:lnTo>
                <a:lnTo>
                  <a:pt x="0" y="493775"/>
                </a:lnTo>
                <a:close/>
              </a:path>
            </a:pathLst>
          </a:custGeom>
          <a:solidFill>
            <a:srgbClr val="35E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8457" y="1332738"/>
            <a:ext cx="123444" cy="123444"/>
          </a:xfrm>
          <a:prstGeom prst="rect">
            <a:avLst/>
          </a:prstGeom>
          <a:solidFill>
            <a:srgbClr val="FF4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783080" y="896112"/>
            <a:ext cx="5486400" cy="457200"/>
          </a:xfrm>
          <a:prstGeom prst="rect">
            <a:avLst/>
          </a:prstGeom>
          <a:noFill/>
        </p:spPr>
        <p:txBody>
          <a:bodyPr wrap="square" lIns="0" rIns="0" tIns="0" bIns="0" anchor="t">
            <a:spAutoFit/>
          </a:bodyPr>
          <a:lstStyle/>
          <a:p>
            <a:pPr algn="l">
              <a:lnSpc>
                <a:spcPct val="110000"/>
              </a:lnSpc>
              <a:spcAft>
                <a:spcPts val="0"/>
              </a:spcAft>
            </a:pPr>
            <a:r>
              <a:rPr sz="2200" b="1">
                <a:solidFill>
                  <a:srgbClr val="35E0F0"/>
                </a:solidFill>
                <a:latin typeface="Consolas"/>
              </a:rPr>
              <a:t>IGNISENSE</a:t>
            </a:r>
          </a:p>
        </p:txBody>
      </p:sp>
      <p:sp>
        <p:nvSpPr>
          <p:cNvPr id="6" name="TextBox 5"/>
          <p:cNvSpPr txBox="1"/>
          <p:nvPr/>
        </p:nvSpPr>
        <p:spPr>
          <a:xfrm>
            <a:off x="822960" y="2011680"/>
            <a:ext cx="10058400" cy="1463040"/>
          </a:xfrm>
          <a:prstGeom prst="rect">
            <a:avLst/>
          </a:prstGeom>
          <a:noFill/>
        </p:spPr>
        <p:txBody>
          <a:bodyPr wrap="square" lIns="0" rIns="0" tIns="0" bIns="0" anchor="t">
            <a:spAutoFit/>
          </a:bodyPr>
          <a:lstStyle/>
          <a:p>
            <a:pPr algn="l">
              <a:lnSpc>
                <a:spcPct val="95000"/>
              </a:lnSpc>
              <a:spcAft>
                <a:spcPts val="0"/>
              </a:spcAft>
            </a:pPr>
            <a:r>
              <a:rPr sz="6000" b="1">
                <a:solidFill>
                  <a:srgbClr val="EEF3F8"/>
                </a:solidFill>
                <a:latin typeface="Segoe UI"/>
              </a:rPr>
              <a:t>Smart engine</a:t>
            </a:r>
          </a:p>
          <a:p>
            <a:pPr algn="l">
              <a:lnSpc>
                <a:spcPct val="95000"/>
              </a:lnSpc>
              <a:spcAft>
                <a:spcPts val="0"/>
              </a:spcAft>
            </a:pPr>
            <a:r>
              <a:rPr sz="6000" b="1">
                <a:solidFill>
                  <a:srgbClr val="EEF3F8"/>
                </a:solidFill>
                <a:latin typeface="Segoe UI"/>
              </a:rPr>
              <a:t>health diagnostic</a:t>
            </a:r>
          </a:p>
        </p:txBody>
      </p:sp>
      <p:sp>
        <p:nvSpPr>
          <p:cNvPr id="7" name="Rectangle 6"/>
          <p:cNvSpPr/>
          <p:nvPr/>
        </p:nvSpPr>
        <p:spPr>
          <a:xfrm>
            <a:off x="822960" y="3840480"/>
            <a:ext cx="1463040" cy="5486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4114800"/>
            <a:ext cx="8412480" cy="914400"/>
          </a:xfrm>
          <a:prstGeom prst="rect">
            <a:avLst/>
          </a:prstGeom>
          <a:noFill/>
        </p:spPr>
        <p:txBody>
          <a:bodyPr wrap="square" lIns="0" rIns="0" tIns="0" bIns="0" anchor="t">
            <a:spAutoFit/>
          </a:bodyPr>
          <a:lstStyle/>
          <a:p>
            <a:pPr algn="l">
              <a:lnSpc>
                <a:spcPct val="115000"/>
              </a:lnSpc>
              <a:spcAft>
                <a:spcPts val="0"/>
              </a:spcAft>
            </a:pPr>
            <a:r>
              <a:rPr sz="2100" b="0">
                <a:solidFill>
                  <a:srgbClr val="B3C0CF"/>
                </a:solidFill>
                <a:latin typeface="Segoe UI"/>
              </a:rPr>
              <a:t>A digital twin that finds engine faults, names the failing part, and says how long is left, using nothing but sensor readings.</a:t>
            </a:r>
          </a:p>
        </p:txBody>
      </p:sp>
      <p:sp>
        <p:nvSpPr>
          <p:cNvPr id="9" name="TextBox 8"/>
          <p:cNvSpPr txBox="1"/>
          <p:nvPr/>
        </p:nvSpPr>
        <p:spPr>
          <a:xfrm>
            <a:off x="822960" y="5806440"/>
            <a:ext cx="5486400" cy="365760"/>
          </a:xfrm>
          <a:prstGeom prst="rect">
            <a:avLst/>
          </a:prstGeom>
          <a:noFill/>
        </p:spPr>
        <p:txBody>
          <a:bodyPr wrap="square" lIns="0" rIns="0" tIns="0" bIns="0" anchor="t">
            <a:spAutoFit/>
          </a:bodyPr>
          <a:lstStyle/>
          <a:p>
            <a:pPr algn="l">
              <a:lnSpc>
                <a:spcPct val="110000"/>
              </a:lnSpc>
              <a:spcAft>
                <a:spcPts val="0"/>
              </a:spcAft>
            </a:pPr>
            <a:r>
              <a:rPr sz="1600" b="1">
                <a:solidFill>
                  <a:srgbClr val="EEF3F8"/>
                </a:solidFill>
                <a:latin typeface="Consolas"/>
              </a:rPr>
              <a:t>TEAM REVORA</a:t>
            </a:r>
          </a:p>
        </p:txBody>
      </p:sp>
      <p:sp>
        <p:nvSpPr>
          <p:cNvPr id="10" name="TextBox 9"/>
          <p:cNvSpPr txBox="1"/>
          <p:nvPr/>
        </p:nvSpPr>
        <p:spPr>
          <a:xfrm>
            <a:off x="822960" y="6126480"/>
            <a:ext cx="8229600" cy="320040"/>
          </a:xfrm>
          <a:prstGeom prst="rect">
            <a:avLst/>
          </a:prstGeom>
          <a:noFill/>
        </p:spPr>
        <p:txBody>
          <a:bodyPr wrap="square" lIns="0" rIns="0" tIns="0" bIns="0" anchor="t">
            <a:spAutoFit/>
          </a:bodyPr>
          <a:lstStyle/>
          <a:p>
            <a:pPr algn="l">
              <a:lnSpc>
                <a:spcPct val="110000"/>
              </a:lnSpc>
              <a:spcAft>
                <a:spcPts val="0"/>
              </a:spcAft>
            </a:pPr>
            <a:r>
              <a:rPr sz="1200" b="0">
                <a:solidFill>
                  <a:srgbClr val="7F8FA3"/>
                </a:solidFill>
                <a:latin typeface="Consolas"/>
              </a:rPr>
              <a:t>Physics-informed engine digital twin  ·  runs entirely in the browser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131C"/>
        </a:solidFill>
        <a:effectLst/>
      </p:bgPr>
    </p:bg>
    <p:spTree>
      <p:nvGrpSpPr>
        <p:cNvPr id="1" name=""/>
        <p:cNvGrpSpPr/>
        <p:nvPr/>
      </p:nvGrpSpPr>
      <p:grpSpPr/>
      <p:sp>
        <p:nvSpPr>
          <p:cNvPr id="2" name="TextBox 1"/>
          <p:cNvSpPr txBox="1"/>
          <p:nvPr/>
        </p:nvSpPr>
        <p:spPr>
          <a:xfrm>
            <a:off x="548640" y="384048"/>
            <a:ext cx="7315200" cy="274320"/>
          </a:xfrm>
          <a:prstGeom prst="rect">
            <a:avLst/>
          </a:prstGeom>
          <a:noFill/>
        </p:spPr>
        <p:txBody>
          <a:bodyPr wrap="square" lIns="0" rIns="0" tIns="0" bIns="0" anchor="t">
            <a:spAutoFit/>
          </a:bodyPr>
          <a:lstStyle/>
          <a:p>
            <a:pPr algn="l">
              <a:lnSpc>
                <a:spcPct val="110000"/>
              </a:lnSpc>
              <a:spcAft>
                <a:spcPts val="0"/>
              </a:spcAft>
            </a:pPr>
            <a:r>
              <a:rPr sz="1200" b="1">
                <a:solidFill>
                  <a:srgbClr val="35E0F0"/>
                </a:solidFill>
                <a:latin typeface="Consolas"/>
              </a:rPr>
              <a:t>01 · THE PROBLEM</a:t>
            </a:r>
          </a:p>
        </p:txBody>
      </p:sp>
      <p:sp>
        <p:nvSpPr>
          <p:cNvPr id="3" name="Rectangle 2"/>
          <p:cNvSpPr/>
          <p:nvPr/>
        </p:nvSpPr>
        <p:spPr>
          <a:xfrm>
            <a:off x="548640" y="6400800"/>
            <a:ext cx="11094415" cy="9144"/>
          </a:xfrm>
          <a:prstGeom prst="rect">
            <a:avLst/>
          </a:prstGeom>
          <a:solidFill>
            <a:srgbClr val="263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lnSpc>
                <a:spcPct val="110000"/>
              </a:lnSpc>
              <a:spcAft>
                <a:spcPts val="0"/>
              </a:spcAft>
            </a:pPr>
            <a:r>
              <a:rPr sz="1000" b="0">
                <a:solidFill>
                  <a:srgbClr val="7F8FA3"/>
                </a:solidFill>
                <a:latin typeface="Consolas"/>
              </a:rPr>
              <a:t>IGNISENSE  ·  TEAM REVORA</a:t>
            </a:r>
          </a:p>
        </p:txBody>
      </p:sp>
      <p:sp>
        <p:nvSpPr>
          <p:cNvPr id="5" name="TextBox 4"/>
          <p:cNvSpPr txBox="1"/>
          <p:nvPr/>
        </p:nvSpPr>
        <p:spPr>
          <a:xfrm>
            <a:off x="9814255" y="6473952"/>
            <a:ext cx="1828800" cy="228600"/>
          </a:xfrm>
          <a:prstGeom prst="rect">
            <a:avLst/>
          </a:prstGeom>
          <a:noFill/>
        </p:spPr>
        <p:txBody>
          <a:bodyPr wrap="square" lIns="0" rIns="0" tIns="0" bIns="0" anchor="t">
            <a:spAutoFit/>
          </a:bodyPr>
          <a:lstStyle/>
          <a:p>
            <a:pPr algn="r">
              <a:lnSpc>
                <a:spcPct val="110000"/>
              </a:lnSpc>
              <a:spcAft>
                <a:spcPts val="0"/>
              </a:spcAft>
            </a:pPr>
            <a:r>
              <a:rPr sz="1000" b="0">
                <a:solidFill>
                  <a:srgbClr val="7F8FA3"/>
                </a:solidFill>
                <a:latin typeface="Consolas"/>
              </a:rPr>
              <a:t>02 / 17</a:t>
            </a:r>
          </a:p>
        </p:txBody>
      </p:sp>
      <p:sp>
        <p:nvSpPr>
          <p:cNvPr id="6" name="TextBox 5"/>
          <p:cNvSpPr txBox="1"/>
          <p:nvPr/>
        </p:nvSpPr>
        <p:spPr>
          <a:xfrm>
            <a:off x="548640" y="713232"/>
            <a:ext cx="11064240" cy="914400"/>
          </a:xfrm>
          <a:prstGeom prst="rect">
            <a:avLst/>
          </a:prstGeom>
          <a:noFill/>
        </p:spPr>
        <p:txBody>
          <a:bodyPr wrap="square" lIns="0" rIns="0" tIns="0" bIns="0" anchor="t">
            <a:spAutoFit/>
          </a:bodyPr>
          <a:lstStyle/>
          <a:p>
            <a:pPr algn="l">
              <a:lnSpc>
                <a:spcPct val="100000"/>
              </a:lnSpc>
              <a:spcAft>
                <a:spcPts val="0"/>
              </a:spcAft>
            </a:pPr>
            <a:r>
              <a:rPr sz="3000" b="1">
                <a:solidFill>
                  <a:srgbClr val="EEF3F8"/>
                </a:solidFill>
                <a:latin typeface="Segoe UI"/>
              </a:rPr>
              <a:t>Engines fail. Schedules don't know when.</a:t>
            </a:r>
          </a:p>
        </p:txBody>
      </p:sp>
      <p:sp>
        <p:nvSpPr>
          <p:cNvPr id="7" name="Rectangle 6"/>
          <p:cNvSpPr/>
          <p:nvPr/>
        </p:nvSpPr>
        <p:spPr>
          <a:xfrm>
            <a:off x="548640" y="2011680"/>
            <a:ext cx="5349240" cy="3017520"/>
          </a:xfrm>
          <a:prstGeom prst="rect">
            <a:avLst/>
          </a:prstGeom>
          <a:solidFill>
            <a:srgbClr val="121B26"/>
          </a:solidFill>
          <a:ln w="12700">
            <a:solidFill>
              <a:srgbClr val="2632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240280"/>
            <a:ext cx="4754880" cy="365760"/>
          </a:xfrm>
          <a:prstGeom prst="rect">
            <a:avLst/>
          </a:prstGeom>
          <a:noFill/>
        </p:spPr>
        <p:txBody>
          <a:bodyPr wrap="square" lIns="0" rIns="0" tIns="0" bIns="0" anchor="t">
            <a:spAutoFit/>
          </a:bodyPr>
          <a:lstStyle/>
          <a:p>
            <a:pPr algn="l">
              <a:lnSpc>
                <a:spcPct val="110000"/>
              </a:lnSpc>
              <a:spcAft>
                <a:spcPts val="0"/>
              </a:spcAft>
            </a:pPr>
            <a:r>
              <a:rPr sz="1300" b="1">
                <a:solidFill>
                  <a:srgbClr val="FF9A3C"/>
                </a:solidFill>
                <a:latin typeface="Consolas"/>
              </a:rPr>
              <a:t>FIXED-INTERVAL SERVICE</a:t>
            </a:r>
          </a:p>
        </p:txBody>
      </p:sp>
      <p:sp>
        <p:nvSpPr>
          <p:cNvPr id="9" name="TextBox 8"/>
          <p:cNvSpPr txBox="1"/>
          <p:nvPr/>
        </p:nvSpPr>
        <p:spPr>
          <a:xfrm>
            <a:off x="868680" y="2697480"/>
            <a:ext cx="4754880" cy="2194560"/>
          </a:xfrm>
          <a:prstGeom prst="rect">
            <a:avLst/>
          </a:prstGeom>
          <a:noFill/>
        </p:spPr>
        <p:txBody>
          <a:bodyPr wrap="square" lIns="0" rIns="0" tIns="0" bIns="0" anchor="t">
            <a:spAutoFit/>
          </a:bodyPr>
          <a:lstStyle/>
          <a:p>
            <a:pPr algn="l">
              <a:lnSpc>
                <a:spcPct val="105000"/>
              </a:lnSpc>
              <a:spcAft>
                <a:spcPts val="0"/>
              </a:spcAft>
            </a:pPr>
            <a:r>
              <a:rPr sz="1900" b="0">
                <a:solidFill>
                  <a:srgbClr val="B3C0CF"/>
                </a:solidFill>
                <a:latin typeface="Segoe UI"/>
              </a:rPr>
              <a:t>Changes parts that are still good.</a:t>
            </a:r>
          </a:p>
          <a:p>
            <a:pPr algn="l">
              <a:lnSpc>
                <a:spcPct val="105000"/>
              </a:lnSpc>
              <a:spcAft>
                <a:spcPts val="0"/>
              </a:spcAft>
            </a:pPr>
            <a:r>
              <a:rPr sz="1900" b="0">
                <a:solidFill>
                  <a:srgbClr val="B3C0CF"/>
                </a:solidFill>
                <a:latin typeface="Segoe UI"/>
              </a:rPr>
              <a:t/>
            </a:r>
          </a:p>
          <a:p>
            <a:pPr algn="l">
              <a:lnSpc>
                <a:spcPct val="105000"/>
              </a:lnSpc>
              <a:spcAft>
                <a:spcPts val="0"/>
              </a:spcAft>
            </a:pPr>
            <a:r>
              <a:rPr sz="1900" b="0">
                <a:solidFill>
                  <a:srgbClr val="B3C0CF"/>
                </a:solidFill>
                <a:latin typeface="Segoe UI"/>
              </a:rPr>
              <a:t>Misses the part that fails early.</a:t>
            </a:r>
          </a:p>
          <a:p>
            <a:pPr algn="l">
              <a:lnSpc>
                <a:spcPct val="105000"/>
              </a:lnSpc>
              <a:spcAft>
                <a:spcPts val="0"/>
              </a:spcAft>
            </a:pPr>
            <a:r>
              <a:rPr sz="1900" b="0">
                <a:solidFill>
                  <a:srgbClr val="B3C0CF"/>
                </a:solidFill>
                <a:latin typeface="Segoe UI"/>
              </a:rPr>
              <a:t/>
            </a:r>
          </a:p>
          <a:p>
            <a:pPr algn="l">
              <a:lnSpc>
                <a:spcPct val="105000"/>
              </a:lnSpc>
              <a:spcAft>
                <a:spcPts val="0"/>
              </a:spcAft>
            </a:pPr>
            <a:r>
              <a:rPr sz="1900" b="0">
                <a:solidFill>
                  <a:srgbClr val="B3C0CF"/>
                </a:solidFill>
                <a:latin typeface="Segoe UI"/>
              </a:rPr>
              <a:t>Says nothing about what is wrong, only that it is time.</a:t>
            </a:r>
          </a:p>
        </p:txBody>
      </p:sp>
      <p:sp>
        <p:nvSpPr>
          <p:cNvPr id="10" name="Rectangle 9"/>
          <p:cNvSpPr/>
          <p:nvPr/>
        </p:nvSpPr>
        <p:spPr>
          <a:xfrm>
            <a:off x="6291072" y="2011680"/>
            <a:ext cx="5349240" cy="3017520"/>
          </a:xfrm>
          <a:prstGeom prst="rect">
            <a:avLst/>
          </a:prstGeom>
          <a:solidFill>
            <a:srgbClr val="121B26"/>
          </a:solidFill>
          <a:ln w="19050">
            <a:solidFill>
              <a:srgbClr val="35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11112" y="2240280"/>
            <a:ext cx="4754880" cy="365760"/>
          </a:xfrm>
          <a:prstGeom prst="rect">
            <a:avLst/>
          </a:prstGeom>
          <a:noFill/>
        </p:spPr>
        <p:txBody>
          <a:bodyPr wrap="square" lIns="0" rIns="0" tIns="0" bIns="0" anchor="t">
            <a:spAutoFit/>
          </a:bodyPr>
          <a:lstStyle/>
          <a:p>
            <a:pPr algn="l">
              <a:lnSpc>
                <a:spcPct val="110000"/>
              </a:lnSpc>
              <a:spcAft>
                <a:spcPts val="0"/>
              </a:spcAft>
            </a:pPr>
            <a:r>
              <a:rPr sz="1300" b="1">
                <a:solidFill>
                  <a:srgbClr val="35E0F0"/>
                </a:solidFill>
                <a:latin typeface="Consolas"/>
              </a:rPr>
              <a:t>CONDITION MONITORING</a:t>
            </a:r>
          </a:p>
        </p:txBody>
      </p:sp>
      <p:sp>
        <p:nvSpPr>
          <p:cNvPr id="12" name="TextBox 11"/>
          <p:cNvSpPr txBox="1"/>
          <p:nvPr/>
        </p:nvSpPr>
        <p:spPr>
          <a:xfrm>
            <a:off x="6611112" y="2697480"/>
            <a:ext cx="4754880" cy="2194560"/>
          </a:xfrm>
          <a:prstGeom prst="rect">
            <a:avLst/>
          </a:prstGeom>
          <a:noFill/>
        </p:spPr>
        <p:txBody>
          <a:bodyPr wrap="square" lIns="0" rIns="0" tIns="0" bIns="0" anchor="t">
            <a:spAutoFit/>
          </a:bodyPr>
          <a:lstStyle/>
          <a:p>
            <a:pPr algn="l">
              <a:lnSpc>
                <a:spcPct val="105000"/>
              </a:lnSpc>
              <a:spcAft>
                <a:spcPts val="0"/>
              </a:spcAft>
            </a:pPr>
            <a:r>
              <a:rPr sz="1900" b="0">
                <a:solidFill>
                  <a:srgbClr val="EEF3F8"/>
                </a:solidFill>
                <a:latin typeface="Segoe UI"/>
              </a:rPr>
              <a:t>Watches the engine's own sensors.</a:t>
            </a:r>
          </a:p>
          <a:p>
            <a:pPr algn="l">
              <a:lnSpc>
                <a:spcPct val="105000"/>
              </a:lnSpc>
              <a:spcAft>
                <a:spcPts val="0"/>
              </a:spcAft>
            </a:pPr>
            <a:r>
              <a:rPr sz="1900" b="0">
                <a:solidFill>
                  <a:srgbClr val="EEF3F8"/>
                </a:solidFill>
                <a:latin typeface="Segoe UI"/>
              </a:rPr>
              <a:t/>
            </a:r>
          </a:p>
          <a:p>
            <a:pPr algn="l">
              <a:lnSpc>
                <a:spcPct val="105000"/>
              </a:lnSpc>
              <a:spcAft>
                <a:spcPts val="0"/>
              </a:spcAft>
            </a:pPr>
            <a:r>
              <a:rPr sz="1900" b="0">
                <a:solidFill>
                  <a:srgbClr val="EEF3F8"/>
                </a:solidFill>
                <a:latin typeface="Segoe UI"/>
              </a:rPr>
              <a:t>Notices a fault while it is small.</a:t>
            </a:r>
          </a:p>
          <a:p>
            <a:pPr algn="l">
              <a:lnSpc>
                <a:spcPct val="105000"/>
              </a:lnSpc>
              <a:spcAft>
                <a:spcPts val="0"/>
              </a:spcAft>
            </a:pPr>
            <a:r>
              <a:rPr sz="1900" b="0">
                <a:solidFill>
                  <a:srgbClr val="EEF3F8"/>
                </a:solidFill>
                <a:latin typeface="Segoe UI"/>
              </a:rPr>
              <a:t/>
            </a:r>
          </a:p>
          <a:p>
            <a:pPr algn="l">
              <a:lnSpc>
                <a:spcPct val="105000"/>
              </a:lnSpc>
              <a:spcAft>
                <a:spcPts val="0"/>
              </a:spcAft>
            </a:pPr>
            <a:r>
              <a:rPr sz="1900" b="0">
                <a:solidFill>
                  <a:srgbClr val="EEF3F8"/>
                </a:solidFill>
                <a:latin typeface="Segoe UI"/>
              </a:rPr>
              <a:t>Names the part, and estimates the time left.</a:t>
            </a:r>
          </a:p>
        </p:txBody>
      </p:sp>
      <p:sp>
        <p:nvSpPr>
          <p:cNvPr id="13" name="TextBox 12"/>
          <p:cNvSpPr txBox="1"/>
          <p:nvPr/>
        </p:nvSpPr>
        <p:spPr>
          <a:xfrm>
            <a:off x="548640" y="5440680"/>
            <a:ext cx="11064240" cy="731520"/>
          </a:xfrm>
          <a:prstGeom prst="rect">
            <a:avLst/>
          </a:prstGeom>
          <a:noFill/>
        </p:spPr>
        <p:txBody>
          <a:bodyPr wrap="square" lIns="0" rIns="0" tIns="0" bIns="0" anchor="t">
            <a:spAutoFit/>
          </a:bodyPr>
          <a:lstStyle/>
          <a:p>
            <a:pPr algn="l">
              <a:lnSpc>
                <a:spcPct val="110000"/>
              </a:lnSpc>
              <a:spcAft>
                <a:spcPts val="0"/>
              </a:spcAft>
            </a:pPr>
            <a:r>
              <a:rPr sz="2400" b="0">
                <a:solidFill>
                  <a:srgbClr val="EEF3F8"/>
                </a:solidFill>
                <a:latin typeface="Segoe UI"/>
              </a:rPr>
              <a:t>IgniSense shows how, </a:t>
            </a:r>
            <a:r>
              <a:rPr sz="2400" b="1">
                <a:solidFill>
                  <a:srgbClr val="35E0F0"/>
                </a:solidFill>
                <a:latin typeface="Segoe UI"/>
              </a:rPr>
              <a:t>from sensor readings alone.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131C"/>
        </a:solidFill>
        <a:effectLst/>
      </p:bgPr>
    </p:bg>
    <p:spTree>
      <p:nvGrpSpPr>
        <p:cNvPr id="1" name=""/>
        <p:cNvGrpSpPr/>
        <p:nvPr/>
      </p:nvGrpSpPr>
      <p:grpSpPr/>
      <p:sp>
        <p:nvSpPr>
          <p:cNvPr id="2" name="TextBox 1"/>
          <p:cNvSpPr txBox="1"/>
          <p:nvPr/>
        </p:nvSpPr>
        <p:spPr>
          <a:xfrm>
            <a:off x="548640" y="384048"/>
            <a:ext cx="7315200" cy="274320"/>
          </a:xfrm>
          <a:prstGeom prst="rect">
            <a:avLst/>
          </a:prstGeom>
          <a:noFill/>
        </p:spPr>
        <p:txBody>
          <a:bodyPr wrap="square" lIns="0" rIns="0" tIns="0" bIns="0" anchor="t">
            <a:spAutoFit/>
          </a:bodyPr>
          <a:lstStyle/>
          <a:p>
            <a:pPr algn="l">
              <a:lnSpc>
                <a:spcPct val="110000"/>
              </a:lnSpc>
              <a:spcAft>
                <a:spcPts val="0"/>
              </a:spcAft>
            </a:pPr>
            <a:r>
              <a:rPr sz="1200" b="1">
                <a:solidFill>
                  <a:srgbClr val="35E0F0"/>
                </a:solidFill>
                <a:latin typeface="Consolas"/>
              </a:rPr>
              <a:t>02 · THE IDEA</a:t>
            </a:r>
          </a:p>
        </p:txBody>
      </p:sp>
      <p:sp>
        <p:nvSpPr>
          <p:cNvPr id="3" name="Rectangle 2"/>
          <p:cNvSpPr/>
          <p:nvPr/>
        </p:nvSpPr>
        <p:spPr>
          <a:xfrm>
            <a:off x="548640" y="6400800"/>
            <a:ext cx="11094415" cy="9144"/>
          </a:xfrm>
          <a:prstGeom prst="rect">
            <a:avLst/>
          </a:prstGeom>
          <a:solidFill>
            <a:srgbClr val="263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lnSpc>
                <a:spcPct val="110000"/>
              </a:lnSpc>
              <a:spcAft>
                <a:spcPts val="0"/>
              </a:spcAft>
            </a:pPr>
            <a:r>
              <a:rPr sz="1000" b="0">
                <a:solidFill>
                  <a:srgbClr val="7F8FA3"/>
                </a:solidFill>
                <a:latin typeface="Consolas"/>
              </a:rPr>
              <a:t>IGNISENSE  ·  TEAM REVORA</a:t>
            </a:r>
          </a:p>
        </p:txBody>
      </p:sp>
      <p:sp>
        <p:nvSpPr>
          <p:cNvPr id="5" name="TextBox 4"/>
          <p:cNvSpPr txBox="1"/>
          <p:nvPr/>
        </p:nvSpPr>
        <p:spPr>
          <a:xfrm>
            <a:off x="9814255" y="6473952"/>
            <a:ext cx="1828800" cy="228600"/>
          </a:xfrm>
          <a:prstGeom prst="rect">
            <a:avLst/>
          </a:prstGeom>
          <a:noFill/>
        </p:spPr>
        <p:txBody>
          <a:bodyPr wrap="square" lIns="0" rIns="0" tIns="0" bIns="0" anchor="t">
            <a:spAutoFit/>
          </a:bodyPr>
          <a:lstStyle/>
          <a:p>
            <a:pPr algn="r">
              <a:lnSpc>
                <a:spcPct val="110000"/>
              </a:lnSpc>
              <a:spcAft>
                <a:spcPts val="0"/>
              </a:spcAft>
            </a:pPr>
            <a:r>
              <a:rPr sz="1000" b="0">
                <a:solidFill>
                  <a:srgbClr val="7F8FA3"/>
                </a:solidFill>
                <a:latin typeface="Consolas"/>
              </a:rPr>
              <a:t>03 / 17</a:t>
            </a:r>
          </a:p>
        </p:txBody>
      </p:sp>
      <p:sp>
        <p:nvSpPr>
          <p:cNvPr id="6" name="TextBox 5"/>
          <p:cNvSpPr txBox="1"/>
          <p:nvPr/>
        </p:nvSpPr>
        <p:spPr>
          <a:xfrm>
            <a:off x="548640" y="713232"/>
            <a:ext cx="11064240" cy="914400"/>
          </a:xfrm>
          <a:prstGeom prst="rect">
            <a:avLst/>
          </a:prstGeom>
          <a:noFill/>
        </p:spPr>
        <p:txBody>
          <a:bodyPr wrap="square" lIns="0" rIns="0" tIns="0" bIns="0" anchor="t">
            <a:spAutoFit/>
          </a:bodyPr>
          <a:lstStyle/>
          <a:p>
            <a:pPr algn="l">
              <a:lnSpc>
                <a:spcPct val="100000"/>
              </a:lnSpc>
              <a:spcAft>
                <a:spcPts val="0"/>
              </a:spcAft>
            </a:pPr>
            <a:r>
              <a:rPr sz="3000" b="1">
                <a:solidFill>
                  <a:srgbClr val="EEF3F8"/>
                </a:solidFill>
                <a:latin typeface="Segoe UI"/>
              </a:rPr>
              <a:t>Two engines. One rule.</a:t>
            </a:r>
          </a:p>
        </p:txBody>
      </p:sp>
      <p:sp>
        <p:nvSpPr>
          <p:cNvPr id="7" name="Rectangle 6"/>
          <p:cNvSpPr/>
          <p:nvPr/>
        </p:nvSpPr>
        <p:spPr>
          <a:xfrm>
            <a:off x="548640" y="2011680"/>
            <a:ext cx="2148840" cy="1417320"/>
          </a:xfrm>
          <a:prstGeom prst="rect">
            <a:avLst/>
          </a:prstGeom>
          <a:solidFill>
            <a:srgbClr val="121B26"/>
          </a:solidFill>
          <a:ln w="15875">
            <a:solidFill>
              <a:srgbClr val="FF4D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139696"/>
            <a:ext cx="1874520" cy="365760"/>
          </a:xfrm>
          <a:prstGeom prst="rect">
            <a:avLst/>
          </a:prstGeom>
          <a:noFill/>
        </p:spPr>
        <p:txBody>
          <a:bodyPr wrap="square" lIns="0" rIns="0" tIns="0" bIns="0" anchor="t">
            <a:spAutoFit/>
          </a:bodyPr>
          <a:lstStyle/>
          <a:p>
            <a:pPr algn="ctr">
              <a:lnSpc>
                <a:spcPct val="110000"/>
              </a:lnSpc>
              <a:spcAft>
                <a:spcPts val="0"/>
              </a:spcAft>
            </a:pPr>
            <a:r>
              <a:rPr sz="1700" b="1">
                <a:solidFill>
                  <a:srgbClr val="FF4D5E"/>
                </a:solidFill>
                <a:latin typeface="Consolas"/>
              </a:rPr>
              <a:t>PLANT</a:t>
            </a:r>
          </a:p>
        </p:txBody>
      </p:sp>
      <p:sp>
        <p:nvSpPr>
          <p:cNvPr id="9" name="TextBox 8"/>
          <p:cNvSpPr txBox="1"/>
          <p:nvPr/>
        </p:nvSpPr>
        <p:spPr>
          <a:xfrm>
            <a:off x="685800" y="2560320"/>
            <a:ext cx="1874520" cy="822960"/>
          </a:xfrm>
          <a:prstGeom prst="rect">
            <a:avLst/>
          </a:prstGeom>
          <a:noFill/>
        </p:spPr>
        <p:txBody>
          <a:bodyPr wrap="square" lIns="0" rIns="0" tIns="0" bIns="0" anchor="t">
            <a:spAutoFit/>
          </a:bodyPr>
          <a:lstStyle/>
          <a:p>
            <a:pPr algn="ctr">
              <a:lnSpc>
                <a:spcPct val="105000"/>
              </a:lnSpc>
              <a:spcAft>
                <a:spcPts val="0"/>
              </a:spcAft>
            </a:pPr>
            <a:r>
              <a:rPr sz="1300" b="0">
                <a:solidFill>
                  <a:srgbClr val="B3C0CF"/>
                </a:solidFill>
                <a:latin typeface="Segoe UI"/>
              </a:rPr>
              <a:t>the "real" engine
hidden faults live here</a:t>
            </a:r>
          </a:p>
        </p:txBody>
      </p:sp>
      <p:sp>
        <p:nvSpPr>
          <p:cNvPr id="10" name="Right Arrow 9"/>
          <p:cNvSpPr/>
          <p:nvPr/>
        </p:nvSpPr>
        <p:spPr>
          <a:xfrm>
            <a:off x="2761488" y="2606040"/>
            <a:ext cx="411480" cy="274320"/>
          </a:xfrm>
          <a:prstGeom prst="rightArrow">
            <a:avLst/>
          </a:prstGeom>
          <a:solidFill>
            <a:srgbClr val="7F8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46120" y="2011680"/>
            <a:ext cx="2148840" cy="1417320"/>
          </a:xfrm>
          <a:prstGeom prst="rect">
            <a:avLst/>
          </a:prstGeom>
          <a:solidFill>
            <a:srgbClr val="121B26"/>
          </a:solidFill>
          <a:ln w="15875">
            <a:solidFill>
              <a:srgbClr val="2632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3279" y="2139696"/>
            <a:ext cx="1874520" cy="365760"/>
          </a:xfrm>
          <a:prstGeom prst="rect">
            <a:avLst/>
          </a:prstGeom>
          <a:noFill/>
        </p:spPr>
        <p:txBody>
          <a:bodyPr wrap="square" lIns="0" rIns="0" tIns="0" bIns="0" anchor="t">
            <a:spAutoFit/>
          </a:bodyPr>
          <a:lstStyle/>
          <a:p>
            <a:pPr algn="ctr">
              <a:lnSpc>
                <a:spcPct val="110000"/>
              </a:lnSpc>
              <a:spcAft>
                <a:spcPts val="0"/>
              </a:spcAft>
            </a:pPr>
            <a:r>
              <a:rPr sz="1700" b="1">
                <a:solidFill>
                  <a:srgbClr val="35E0F0"/>
                </a:solidFill>
                <a:latin typeface="Consolas"/>
              </a:rPr>
              <a:t>SENSORS</a:t>
            </a:r>
          </a:p>
        </p:txBody>
      </p:sp>
      <p:sp>
        <p:nvSpPr>
          <p:cNvPr id="13" name="TextBox 12"/>
          <p:cNvSpPr txBox="1"/>
          <p:nvPr/>
        </p:nvSpPr>
        <p:spPr>
          <a:xfrm>
            <a:off x="3383279" y="2560320"/>
            <a:ext cx="1874520" cy="822960"/>
          </a:xfrm>
          <a:prstGeom prst="rect">
            <a:avLst/>
          </a:prstGeom>
          <a:noFill/>
        </p:spPr>
        <p:txBody>
          <a:bodyPr wrap="square" lIns="0" rIns="0" tIns="0" bIns="0" anchor="t">
            <a:spAutoFit/>
          </a:bodyPr>
          <a:lstStyle/>
          <a:p>
            <a:pPr algn="ctr">
              <a:lnSpc>
                <a:spcPct val="105000"/>
              </a:lnSpc>
              <a:spcAft>
                <a:spcPts val="0"/>
              </a:spcAft>
            </a:pPr>
            <a:r>
              <a:rPr sz="1300" b="0">
                <a:solidFill>
                  <a:srgbClr val="B3C0CF"/>
                </a:solidFill>
                <a:latin typeface="Segoe UI"/>
              </a:rPr>
              <a:t>noise, drift,
spikes, dropouts</a:t>
            </a:r>
          </a:p>
        </p:txBody>
      </p:sp>
      <p:sp>
        <p:nvSpPr>
          <p:cNvPr id="14" name="Right Arrow 13"/>
          <p:cNvSpPr/>
          <p:nvPr/>
        </p:nvSpPr>
        <p:spPr>
          <a:xfrm>
            <a:off x="5458968" y="2606040"/>
            <a:ext cx="411480" cy="274320"/>
          </a:xfrm>
          <a:prstGeom prst="rightArrow">
            <a:avLst/>
          </a:prstGeom>
          <a:solidFill>
            <a:srgbClr val="7F8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0" y="2011680"/>
            <a:ext cx="2148840" cy="1417320"/>
          </a:xfrm>
          <a:prstGeom prst="rect">
            <a:avLst/>
          </a:prstGeom>
          <a:solidFill>
            <a:srgbClr val="10333D"/>
          </a:solidFill>
          <a:ln w="15875">
            <a:solidFill>
              <a:srgbClr val="35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80760" y="2139696"/>
            <a:ext cx="1874520" cy="365760"/>
          </a:xfrm>
          <a:prstGeom prst="rect">
            <a:avLst/>
          </a:prstGeom>
          <a:noFill/>
        </p:spPr>
        <p:txBody>
          <a:bodyPr wrap="square" lIns="0" rIns="0" tIns="0" bIns="0" anchor="t">
            <a:spAutoFit/>
          </a:bodyPr>
          <a:lstStyle/>
          <a:p>
            <a:pPr algn="ctr">
              <a:lnSpc>
                <a:spcPct val="110000"/>
              </a:lnSpc>
              <a:spcAft>
                <a:spcPts val="0"/>
              </a:spcAft>
            </a:pPr>
            <a:r>
              <a:rPr sz="1700" b="1">
                <a:solidFill>
                  <a:srgbClr val="35E0F0"/>
                </a:solidFill>
                <a:latin typeface="Consolas"/>
              </a:rPr>
              <a:t>TELEMETRY</a:t>
            </a:r>
          </a:p>
        </p:txBody>
      </p:sp>
      <p:sp>
        <p:nvSpPr>
          <p:cNvPr id="17" name="TextBox 16"/>
          <p:cNvSpPr txBox="1"/>
          <p:nvPr/>
        </p:nvSpPr>
        <p:spPr>
          <a:xfrm>
            <a:off x="6080760" y="2560320"/>
            <a:ext cx="1874520" cy="822960"/>
          </a:xfrm>
          <a:prstGeom prst="rect">
            <a:avLst/>
          </a:prstGeom>
          <a:noFill/>
        </p:spPr>
        <p:txBody>
          <a:bodyPr wrap="square" lIns="0" rIns="0" tIns="0" bIns="0" anchor="t">
            <a:spAutoFit/>
          </a:bodyPr>
          <a:lstStyle/>
          <a:p>
            <a:pPr algn="ctr">
              <a:lnSpc>
                <a:spcPct val="105000"/>
              </a:lnSpc>
              <a:spcAft>
                <a:spcPts val="0"/>
              </a:spcAft>
            </a:pPr>
            <a:r>
              <a:rPr sz="1300" b="0">
                <a:solidFill>
                  <a:srgbClr val="B3C0CF"/>
                </a:solidFill>
                <a:latin typeface="Segoe UI"/>
              </a:rPr>
              <a:t>one common format
for every source</a:t>
            </a:r>
          </a:p>
        </p:txBody>
      </p:sp>
      <p:sp>
        <p:nvSpPr>
          <p:cNvPr id="18" name="Right Arrow 17"/>
          <p:cNvSpPr/>
          <p:nvPr/>
        </p:nvSpPr>
        <p:spPr>
          <a:xfrm>
            <a:off x="8156448" y="2606040"/>
            <a:ext cx="411480" cy="274320"/>
          </a:xfrm>
          <a:prstGeom prst="rightArrow">
            <a:avLst/>
          </a:prstGeom>
          <a:solidFill>
            <a:srgbClr val="7F8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641080" y="1783080"/>
            <a:ext cx="2971800" cy="914400"/>
          </a:xfrm>
          <a:prstGeom prst="rect">
            <a:avLst/>
          </a:prstGeom>
          <a:solidFill>
            <a:srgbClr val="121B26"/>
          </a:solidFill>
          <a:ln w="15875">
            <a:solidFill>
              <a:srgbClr val="2632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8240" y="1911095"/>
            <a:ext cx="2697480" cy="365760"/>
          </a:xfrm>
          <a:prstGeom prst="rect">
            <a:avLst/>
          </a:prstGeom>
          <a:noFill/>
        </p:spPr>
        <p:txBody>
          <a:bodyPr wrap="square" lIns="0" rIns="0" tIns="0" bIns="0" anchor="t">
            <a:spAutoFit/>
          </a:bodyPr>
          <a:lstStyle/>
          <a:p>
            <a:pPr algn="ctr">
              <a:lnSpc>
                <a:spcPct val="110000"/>
              </a:lnSpc>
              <a:spcAft>
                <a:spcPts val="0"/>
              </a:spcAft>
            </a:pPr>
            <a:r>
              <a:rPr sz="1700" b="1">
                <a:solidFill>
                  <a:srgbClr val="EEF3F8"/>
                </a:solidFill>
                <a:latin typeface="Consolas"/>
              </a:rPr>
              <a:t>TWIN</a:t>
            </a:r>
          </a:p>
        </p:txBody>
      </p:sp>
      <p:sp>
        <p:nvSpPr>
          <p:cNvPr id="21" name="TextBox 20"/>
          <p:cNvSpPr txBox="1"/>
          <p:nvPr/>
        </p:nvSpPr>
        <p:spPr>
          <a:xfrm>
            <a:off x="8778240" y="2331720"/>
            <a:ext cx="2697480" cy="320040"/>
          </a:xfrm>
          <a:prstGeom prst="rect">
            <a:avLst/>
          </a:prstGeom>
          <a:noFill/>
        </p:spPr>
        <p:txBody>
          <a:bodyPr wrap="square" lIns="0" rIns="0" tIns="0" bIns="0" anchor="t">
            <a:spAutoFit/>
          </a:bodyPr>
          <a:lstStyle/>
          <a:p>
            <a:pPr algn="ctr">
              <a:lnSpc>
                <a:spcPct val="105000"/>
              </a:lnSpc>
              <a:spcAft>
                <a:spcPts val="0"/>
              </a:spcAft>
            </a:pPr>
            <a:r>
              <a:rPr sz="1300" b="0">
                <a:solidFill>
                  <a:srgbClr val="B3C0CF"/>
                </a:solidFill>
                <a:latin typeface="Segoe UI"/>
              </a:rPr>
              <a:t>what the sensors
should read</a:t>
            </a:r>
          </a:p>
        </p:txBody>
      </p:sp>
      <p:sp>
        <p:nvSpPr>
          <p:cNvPr id="22" name="Rectangle 21"/>
          <p:cNvSpPr/>
          <p:nvPr/>
        </p:nvSpPr>
        <p:spPr>
          <a:xfrm>
            <a:off x="8641080" y="2834640"/>
            <a:ext cx="2971800" cy="914400"/>
          </a:xfrm>
          <a:prstGeom prst="rect">
            <a:avLst/>
          </a:prstGeom>
          <a:solidFill>
            <a:srgbClr val="121B26"/>
          </a:solidFill>
          <a:ln w="15875">
            <a:solidFill>
              <a:srgbClr val="2632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0" y="2962656"/>
            <a:ext cx="2697480" cy="365760"/>
          </a:xfrm>
          <a:prstGeom prst="rect">
            <a:avLst/>
          </a:prstGeom>
          <a:noFill/>
        </p:spPr>
        <p:txBody>
          <a:bodyPr wrap="square" lIns="0" rIns="0" tIns="0" bIns="0" anchor="t">
            <a:spAutoFit/>
          </a:bodyPr>
          <a:lstStyle/>
          <a:p>
            <a:pPr algn="ctr">
              <a:lnSpc>
                <a:spcPct val="110000"/>
              </a:lnSpc>
              <a:spcAft>
                <a:spcPts val="0"/>
              </a:spcAft>
            </a:pPr>
            <a:r>
              <a:rPr sz="1700" b="1">
                <a:solidFill>
                  <a:srgbClr val="35E0F0"/>
                </a:solidFill>
                <a:latin typeface="Consolas"/>
              </a:rPr>
              <a:t>ANALYTICS</a:t>
            </a:r>
          </a:p>
        </p:txBody>
      </p:sp>
      <p:sp>
        <p:nvSpPr>
          <p:cNvPr id="24" name="TextBox 23"/>
          <p:cNvSpPr txBox="1"/>
          <p:nvPr/>
        </p:nvSpPr>
        <p:spPr>
          <a:xfrm>
            <a:off x="8778240" y="3383280"/>
            <a:ext cx="2697480" cy="320040"/>
          </a:xfrm>
          <a:prstGeom prst="rect">
            <a:avLst/>
          </a:prstGeom>
          <a:noFill/>
        </p:spPr>
        <p:txBody>
          <a:bodyPr wrap="square" lIns="0" rIns="0" tIns="0" bIns="0" anchor="t">
            <a:spAutoFit/>
          </a:bodyPr>
          <a:lstStyle/>
          <a:p>
            <a:pPr algn="ctr">
              <a:lnSpc>
                <a:spcPct val="105000"/>
              </a:lnSpc>
              <a:spcAft>
                <a:spcPts val="0"/>
              </a:spcAft>
            </a:pPr>
            <a:r>
              <a:rPr sz="1300" b="0">
                <a:solidFill>
                  <a:srgbClr val="B3C0CF"/>
                </a:solidFill>
                <a:latin typeface="Segoe UI"/>
              </a:rPr>
              <a:t>gap → fault, health, time left</a:t>
            </a:r>
          </a:p>
        </p:txBody>
      </p:sp>
      <p:sp>
        <p:nvSpPr>
          <p:cNvPr id="25" name="Rectangle 24"/>
          <p:cNvSpPr/>
          <p:nvPr/>
        </p:nvSpPr>
        <p:spPr>
          <a:xfrm>
            <a:off x="548640" y="4206240"/>
            <a:ext cx="11064240" cy="1600200"/>
          </a:xfrm>
          <a:prstGeom prst="rect">
            <a:avLst/>
          </a:prstGeom>
          <a:solidFill>
            <a:srgbClr val="121B26"/>
          </a:solidFill>
          <a:ln w="19050">
            <a:solidFill>
              <a:srgbClr val="3DDC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4407408"/>
            <a:ext cx="10424160" cy="365760"/>
          </a:xfrm>
          <a:prstGeom prst="rect">
            <a:avLst/>
          </a:prstGeom>
          <a:noFill/>
        </p:spPr>
        <p:txBody>
          <a:bodyPr wrap="square" lIns="0" rIns="0" tIns="0" bIns="0" anchor="t">
            <a:spAutoFit/>
          </a:bodyPr>
          <a:lstStyle/>
          <a:p>
            <a:pPr algn="l">
              <a:lnSpc>
                <a:spcPct val="110000"/>
              </a:lnSpc>
              <a:spcAft>
                <a:spcPts val="0"/>
              </a:spcAft>
            </a:pPr>
            <a:r>
              <a:rPr sz="1300" b="1">
                <a:solidFill>
                  <a:srgbClr val="3DDC84"/>
                </a:solidFill>
                <a:latin typeface="Consolas"/>
              </a:rPr>
              <a:t>THE RULE THAT MAKES IT HONEST</a:t>
            </a:r>
          </a:p>
        </p:txBody>
      </p:sp>
      <p:sp>
        <p:nvSpPr>
          <p:cNvPr id="27" name="TextBox 26"/>
          <p:cNvSpPr txBox="1"/>
          <p:nvPr/>
        </p:nvSpPr>
        <p:spPr>
          <a:xfrm>
            <a:off x="868680" y="4846320"/>
            <a:ext cx="10424160" cy="914400"/>
          </a:xfrm>
          <a:prstGeom prst="rect">
            <a:avLst/>
          </a:prstGeom>
          <a:noFill/>
        </p:spPr>
        <p:txBody>
          <a:bodyPr wrap="square" lIns="0" rIns="0" tIns="0" bIns="0" anchor="t">
            <a:spAutoFit/>
          </a:bodyPr>
          <a:lstStyle/>
          <a:p>
            <a:pPr algn="l">
              <a:lnSpc>
                <a:spcPct val="110000"/>
              </a:lnSpc>
              <a:spcAft>
                <a:spcPts val="0"/>
              </a:spcAft>
            </a:pPr>
            <a:r>
              <a:rPr sz="1900" b="0">
                <a:solidFill>
                  <a:srgbClr val="EEF3F8"/>
                </a:solidFill>
                <a:latin typeface="Segoe UI"/>
              </a:rPr>
              <a:t>The analytics only ever receive sensor telemetry. The fault lives in a part of the code they are not allowed to import, and a lint rule enforces it. The system cannot cheat by reading the answer.</a:t>
            </a:r>
          </a:p>
        </p:txBody>
      </p:sp>
      <p:sp>
        <p:nvSpPr>
          <p:cNvPr id="28" name="TextBox 27"/>
          <p:cNvSpPr txBox="1"/>
          <p:nvPr/>
        </p:nvSpPr>
        <p:spPr>
          <a:xfrm>
            <a:off x="548640" y="5943600"/>
            <a:ext cx="11064240" cy="365760"/>
          </a:xfrm>
          <a:prstGeom prst="rect">
            <a:avLst/>
          </a:prstGeom>
          <a:noFill/>
        </p:spPr>
        <p:txBody>
          <a:bodyPr wrap="square" lIns="0" rIns="0" tIns="0" bIns="0" anchor="t">
            <a:spAutoFit/>
          </a:bodyPr>
          <a:lstStyle/>
          <a:p>
            <a:pPr algn="l">
              <a:lnSpc>
                <a:spcPct val="110000"/>
              </a:lnSpc>
              <a:spcAft>
                <a:spcPts val="0"/>
              </a:spcAft>
            </a:pPr>
            <a:r>
              <a:rPr sz="1500" b="0">
                <a:solidFill>
                  <a:srgbClr val="7F8FA3"/>
                </a:solidFill>
                <a:latin typeface="Segoe UI"/>
              </a:rPr>
              <a:t>The gap between what the sensors read and what a healthy engine would read is the evidence.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131C"/>
        </a:solidFill>
        <a:effectLst/>
      </p:bgPr>
    </p:bg>
    <p:spTree>
      <p:nvGrpSpPr>
        <p:cNvPr id="1" name=""/>
        <p:cNvGrpSpPr/>
        <p:nvPr/>
      </p:nvGrpSpPr>
      <p:grpSpPr/>
      <p:sp>
        <p:nvSpPr>
          <p:cNvPr id="2" name="TextBox 1"/>
          <p:cNvSpPr txBox="1"/>
          <p:nvPr/>
        </p:nvSpPr>
        <p:spPr>
          <a:xfrm>
            <a:off x="548640" y="384048"/>
            <a:ext cx="7315200" cy="274320"/>
          </a:xfrm>
          <a:prstGeom prst="rect">
            <a:avLst/>
          </a:prstGeom>
          <a:noFill/>
        </p:spPr>
        <p:txBody>
          <a:bodyPr wrap="square" lIns="0" rIns="0" tIns="0" bIns="0" anchor="t">
            <a:spAutoFit/>
          </a:bodyPr>
          <a:lstStyle/>
          <a:p>
            <a:pPr algn="l">
              <a:lnSpc>
                <a:spcPct val="110000"/>
              </a:lnSpc>
              <a:spcAft>
                <a:spcPts val="0"/>
              </a:spcAft>
            </a:pPr>
            <a:r>
              <a:rPr sz="1200" b="1">
                <a:solidFill>
                  <a:srgbClr val="35E0F0"/>
                </a:solidFill>
                <a:latin typeface="Consolas"/>
              </a:rPr>
              <a:t>03 · SEE IT LIVE</a:t>
            </a:r>
          </a:p>
        </p:txBody>
      </p:sp>
      <p:sp>
        <p:nvSpPr>
          <p:cNvPr id="3" name="Rectangle 2"/>
          <p:cNvSpPr/>
          <p:nvPr/>
        </p:nvSpPr>
        <p:spPr>
          <a:xfrm>
            <a:off x="548640" y="6400800"/>
            <a:ext cx="11094415" cy="9144"/>
          </a:xfrm>
          <a:prstGeom prst="rect">
            <a:avLst/>
          </a:prstGeom>
          <a:solidFill>
            <a:srgbClr val="263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lnSpc>
                <a:spcPct val="110000"/>
              </a:lnSpc>
              <a:spcAft>
                <a:spcPts val="0"/>
              </a:spcAft>
            </a:pPr>
            <a:r>
              <a:rPr sz="1000" b="0">
                <a:solidFill>
                  <a:srgbClr val="7F8FA3"/>
                </a:solidFill>
                <a:latin typeface="Consolas"/>
              </a:rPr>
              <a:t>IGNISENSE  ·  TEAM REVORA</a:t>
            </a:r>
          </a:p>
        </p:txBody>
      </p:sp>
      <p:sp>
        <p:nvSpPr>
          <p:cNvPr id="5" name="TextBox 4"/>
          <p:cNvSpPr txBox="1"/>
          <p:nvPr/>
        </p:nvSpPr>
        <p:spPr>
          <a:xfrm>
            <a:off x="9814255" y="6473952"/>
            <a:ext cx="1828800" cy="228600"/>
          </a:xfrm>
          <a:prstGeom prst="rect">
            <a:avLst/>
          </a:prstGeom>
          <a:noFill/>
        </p:spPr>
        <p:txBody>
          <a:bodyPr wrap="square" lIns="0" rIns="0" tIns="0" bIns="0" anchor="t">
            <a:spAutoFit/>
          </a:bodyPr>
          <a:lstStyle/>
          <a:p>
            <a:pPr algn="r">
              <a:lnSpc>
                <a:spcPct val="110000"/>
              </a:lnSpc>
              <a:spcAft>
                <a:spcPts val="0"/>
              </a:spcAft>
            </a:pPr>
            <a:r>
              <a:rPr sz="1000" b="0">
                <a:solidFill>
                  <a:srgbClr val="7F8FA3"/>
                </a:solidFill>
                <a:latin typeface="Consolas"/>
              </a:rPr>
              <a:t>04 / 17</a:t>
            </a:r>
          </a:p>
        </p:txBody>
      </p:sp>
      <p:sp>
        <p:nvSpPr>
          <p:cNvPr id="6" name="TextBox 5"/>
          <p:cNvSpPr txBox="1"/>
          <p:nvPr/>
        </p:nvSpPr>
        <p:spPr>
          <a:xfrm>
            <a:off x="548640" y="713232"/>
            <a:ext cx="4297680" cy="914400"/>
          </a:xfrm>
          <a:prstGeom prst="rect">
            <a:avLst/>
          </a:prstGeom>
          <a:noFill/>
        </p:spPr>
        <p:txBody>
          <a:bodyPr wrap="square" lIns="0" rIns="0" tIns="0" bIns="0" anchor="t">
            <a:spAutoFit/>
          </a:bodyPr>
          <a:lstStyle/>
          <a:p>
            <a:pPr algn="l">
              <a:lnSpc>
                <a:spcPct val="100000"/>
              </a:lnSpc>
              <a:spcAft>
                <a:spcPts val="0"/>
              </a:spcAft>
            </a:pPr>
            <a:r>
              <a:rPr sz="3000" b="1">
                <a:solidFill>
                  <a:srgbClr val="EEF3F8"/>
                </a:solidFill>
                <a:latin typeface="Segoe UI"/>
              </a:rPr>
              <a:t>A 3D engine on the same physics</a:t>
            </a:r>
          </a:p>
        </p:txBody>
      </p:sp>
      <p:sp>
        <p:nvSpPr>
          <p:cNvPr id="7" name="Rectangle 6"/>
          <p:cNvSpPr/>
          <p:nvPr/>
        </p:nvSpPr>
        <p:spPr>
          <a:xfrm>
            <a:off x="548640" y="2596896"/>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2514600"/>
            <a:ext cx="4023360" cy="816102"/>
          </a:xfrm>
          <a:prstGeom prst="rect">
            <a:avLst/>
          </a:prstGeom>
          <a:noFill/>
        </p:spPr>
        <p:txBody>
          <a:bodyPr wrap="square" lIns="0" rIns="0" tIns="0" bIns="0" anchor="t">
            <a:spAutoFit/>
          </a:bodyPr>
          <a:lstStyle/>
          <a:p>
            <a:pPr algn="l">
              <a:lnSpc>
                <a:spcPct val="105000"/>
              </a:lnSpc>
              <a:spcAft>
                <a:spcPts val="0"/>
              </a:spcAft>
            </a:pPr>
            <a:r>
              <a:rPr sz="1700" b="0">
                <a:solidFill>
                  <a:srgbClr val="B3C0CF"/>
                </a:solidFill>
                <a:latin typeface="Segoe UI"/>
              </a:rPr>
              <a:t>Pistons, rods and crank move by the slider-crank equation, not an animation loop.</a:t>
            </a:r>
          </a:p>
        </p:txBody>
      </p:sp>
      <p:sp>
        <p:nvSpPr>
          <p:cNvPr id="9" name="Rectangle 8"/>
          <p:cNvSpPr/>
          <p:nvPr/>
        </p:nvSpPr>
        <p:spPr>
          <a:xfrm>
            <a:off x="548640" y="3565398"/>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3483102"/>
            <a:ext cx="4023360" cy="272034"/>
          </a:xfrm>
          <a:prstGeom prst="rect">
            <a:avLst/>
          </a:prstGeom>
          <a:noFill/>
        </p:spPr>
        <p:txBody>
          <a:bodyPr wrap="square" lIns="0" rIns="0" tIns="0" bIns="0" anchor="t">
            <a:spAutoFit/>
          </a:bodyPr>
          <a:lstStyle/>
          <a:p>
            <a:pPr algn="l">
              <a:lnSpc>
                <a:spcPct val="105000"/>
              </a:lnSpc>
              <a:spcAft>
                <a:spcPts val="0"/>
              </a:spcAft>
            </a:pPr>
            <a:r>
              <a:rPr sz="1700" b="0">
                <a:solidFill>
                  <a:srgbClr val="B3C0CF"/>
                </a:solidFill>
                <a:latin typeface="Segoe UI"/>
              </a:rPr>
              <a:t>Cylinders flash in firing order 1-3-4-2.</a:t>
            </a:r>
          </a:p>
        </p:txBody>
      </p:sp>
      <p:sp>
        <p:nvSpPr>
          <p:cNvPr id="11" name="Rectangle 10"/>
          <p:cNvSpPr/>
          <p:nvPr/>
        </p:nvSpPr>
        <p:spPr>
          <a:xfrm>
            <a:off x="548640" y="3989832"/>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3907536"/>
            <a:ext cx="4023360" cy="544068"/>
          </a:xfrm>
          <a:prstGeom prst="rect">
            <a:avLst/>
          </a:prstGeom>
          <a:noFill/>
        </p:spPr>
        <p:txBody>
          <a:bodyPr wrap="square" lIns="0" rIns="0" tIns="0" bIns="0" anchor="t">
            <a:spAutoFit/>
          </a:bodyPr>
          <a:lstStyle/>
          <a:p>
            <a:pPr algn="l">
              <a:lnSpc>
                <a:spcPct val="105000"/>
              </a:lnSpc>
              <a:spcAft>
                <a:spcPts val="0"/>
              </a:spcAft>
            </a:pPr>
            <a:r>
              <a:rPr sz="1700" b="0">
                <a:solidFill>
                  <a:srgbClr val="B3C0CF"/>
                </a:solidFill>
                <a:latin typeface="Segoe UI"/>
              </a:rPr>
              <a:t>Health ring and six subsystem scores update live.</a:t>
            </a:r>
          </a:p>
        </p:txBody>
      </p:sp>
      <p:sp>
        <p:nvSpPr>
          <p:cNvPr id="13" name="Rectangle 12"/>
          <p:cNvSpPr/>
          <p:nvPr/>
        </p:nvSpPr>
        <p:spPr>
          <a:xfrm>
            <a:off x="548640" y="4686300"/>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4604004"/>
            <a:ext cx="4023360" cy="272034"/>
          </a:xfrm>
          <a:prstGeom prst="rect">
            <a:avLst/>
          </a:prstGeom>
          <a:noFill/>
        </p:spPr>
        <p:txBody>
          <a:bodyPr wrap="square" lIns="0" rIns="0" tIns="0" bIns="0" anchor="t">
            <a:spAutoFit/>
          </a:bodyPr>
          <a:lstStyle/>
          <a:p>
            <a:pPr algn="l">
              <a:lnSpc>
                <a:spcPct val="105000"/>
              </a:lnSpc>
              <a:spcAft>
                <a:spcPts val="0"/>
              </a:spcAft>
            </a:pPr>
            <a:r>
              <a:rPr sz="1700" b="0">
                <a:solidFill>
                  <a:srgbClr val="B3C0CF"/>
                </a:solidFill>
                <a:latin typeface="Segoe UI"/>
              </a:rPr>
              <a:t>Click any part for its sensors and its math.</a:t>
            </a:r>
          </a:p>
        </p:txBody>
      </p:sp>
      <p:sp>
        <p:nvSpPr>
          <p:cNvPr id="15" name="Rectangle 14"/>
          <p:cNvSpPr/>
          <p:nvPr/>
        </p:nvSpPr>
        <p:spPr>
          <a:xfrm>
            <a:off x="5138928" y="1267566"/>
            <a:ext cx="6592824" cy="4642906"/>
          </a:xfrm>
          <a:prstGeom prst="rect">
            <a:avLst/>
          </a:prstGeom>
          <a:solidFill>
            <a:srgbClr val="263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live-running.png"/>
          <p:cNvPicPr>
            <a:picLocks noChangeAspect="1"/>
          </p:cNvPicPr>
          <p:nvPr/>
        </p:nvPicPr>
        <p:blipFill>
          <a:blip r:embed="rId3"/>
          <a:stretch>
            <a:fillRect/>
          </a:stretch>
        </p:blipFill>
        <p:spPr>
          <a:xfrm>
            <a:off x="5166360" y="1294998"/>
            <a:ext cx="6537960" cy="458804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131C"/>
        </a:solidFill>
        <a:effectLst/>
      </p:bgPr>
    </p:bg>
    <p:spTree>
      <p:nvGrpSpPr>
        <p:cNvPr id="1" name=""/>
        <p:cNvGrpSpPr/>
        <p:nvPr/>
      </p:nvGrpSpPr>
      <p:grpSpPr/>
      <p:sp>
        <p:nvSpPr>
          <p:cNvPr id="2" name="TextBox 1"/>
          <p:cNvSpPr txBox="1"/>
          <p:nvPr/>
        </p:nvSpPr>
        <p:spPr>
          <a:xfrm>
            <a:off x="548640" y="384048"/>
            <a:ext cx="7315200" cy="274320"/>
          </a:xfrm>
          <a:prstGeom prst="rect">
            <a:avLst/>
          </a:prstGeom>
          <a:noFill/>
        </p:spPr>
        <p:txBody>
          <a:bodyPr wrap="square" lIns="0" rIns="0" tIns="0" bIns="0" anchor="t">
            <a:spAutoFit/>
          </a:bodyPr>
          <a:lstStyle/>
          <a:p>
            <a:pPr algn="l">
              <a:lnSpc>
                <a:spcPct val="110000"/>
              </a:lnSpc>
              <a:spcAft>
                <a:spcPts val="0"/>
              </a:spcAft>
            </a:pPr>
            <a:r>
              <a:rPr sz="1200" b="1">
                <a:solidFill>
                  <a:srgbClr val="35E0F0"/>
                </a:solidFill>
                <a:latin typeface="Consolas"/>
              </a:rPr>
              <a:t>04 · THE SIGNALS</a:t>
            </a:r>
          </a:p>
        </p:txBody>
      </p:sp>
      <p:sp>
        <p:nvSpPr>
          <p:cNvPr id="3" name="Rectangle 2"/>
          <p:cNvSpPr/>
          <p:nvPr/>
        </p:nvSpPr>
        <p:spPr>
          <a:xfrm>
            <a:off x="548640" y="6400800"/>
            <a:ext cx="11094415" cy="9144"/>
          </a:xfrm>
          <a:prstGeom prst="rect">
            <a:avLst/>
          </a:prstGeom>
          <a:solidFill>
            <a:srgbClr val="263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lnSpc>
                <a:spcPct val="110000"/>
              </a:lnSpc>
              <a:spcAft>
                <a:spcPts val="0"/>
              </a:spcAft>
            </a:pPr>
            <a:r>
              <a:rPr sz="1000" b="0">
                <a:solidFill>
                  <a:srgbClr val="7F8FA3"/>
                </a:solidFill>
                <a:latin typeface="Consolas"/>
              </a:rPr>
              <a:t>IGNISENSE  ·  TEAM REVORA</a:t>
            </a:r>
          </a:p>
        </p:txBody>
      </p:sp>
      <p:sp>
        <p:nvSpPr>
          <p:cNvPr id="5" name="TextBox 4"/>
          <p:cNvSpPr txBox="1"/>
          <p:nvPr/>
        </p:nvSpPr>
        <p:spPr>
          <a:xfrm>
            <a:off x="9814255" y="6473952"/>
            <a:ext cx="1828800" cy="228600"/>
          </a:xfrm>
          <a:prstGeom prst="rect">
            <a:avLst/>
          </a:prstGeom>
          <a:noFill/>
        </p:spPr>
        <p:txBody>
          <a:bodyPr wrap="square" lIns="0" rIns="0" tIns="0" bIns="0" anchor="t">
            <a:spAutoFit/>
          </a:bodyPr>
          <a:lstStyle/>
          <a:p>
            <a:pPr algn="r">
              <a:lnSpc>
                <a:spcPct val="110000"/>
              </a:lnSpc>
              <a:spcAft>
                <a:spcPts val="0"/>
              </a:spcAft>
            </a:pPr>
            <a:r>
              <a:rPr sz="1000" b="0">
                <a:solidFill>
                  <a:srgbClr val="7F8FA3"/>
                </a:solidFill>
                <a:latin typeface="Consolas"/>
              </a:rPr>
              <a:t>05 / 17</a:t>
            </a:r>
          </a:p>
        </p:txBody>
      </p:sp>
      <p:sp>
        <p:nvSpPr>
          <p:cNvPr id="6" name="TextBox 5"/>
          <p:cNvSpPr txBox="1"/>
          <p:nvPr/>
        </p:nvSpPr>
        <p:spPr>
          <a:xfrm>
            <a:off x="548640" y="713232"/>
            <a:ext cx="11064240" cy="914400"/>
          </a:xfrm>
          <a:prstGeom prst="rect">
            <a:avLst/>
          </a:prstGeom>
          <a:noFill/>
        </p:spPr>
        <p:txBody>
          <a:bodyPr wrap="square" lIns="0" rIns="0" tIns="0" bIns="0" anchor="t">
            <a:spAutoFit/>
          </a:bodyPr>
          <a:lstStyle/>
          <a:p>
            <a:pPr algn="l">
              <a:lnSpc>
                <a:spcPct val="100000"/>
              </a:lnSpc>
              <a:spcAft>
                <a:spcPts val="0"/>
              </a:spcAft>
            </a:pPr>
            <a:r>
              <a:rPr sz="3000" b="1">
                <a:solidFill>
                  <a:srgbClr val="EEF3F8"/>
                </a:solidFill>
                <a:latin typeface="Segoe UI"/>
              </a:rPr>
              <a:t>Every gauge has a ghost</a:t>
            </a:r>
          </a:p>
        </p:txBody>
      </p:sp>
      <p:sp>
        <p:nvSpPr>
          <p:cNvPr id="7" name="Rectangle 6"/>
          <p:cNvSpPr/>
          <p:nvPr/>
        </p:nvSpPr>
        <p:spPr>
          <a:xfrm>
            <a:off x="548640" y="1865376"/>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783080"/>
            <a:ext cx="3291840" cy="544068"/>
          </a:xfrm>
          <a:prstGeom prst="rect">
            <a:avLst/>
          </a:prstGeom>
          <a:noFill/>
        </p:spPr>
        <p:txBody>
          <a:bodyPr wrap="square" lIns="0" rIns="0" tIns="0" bIns="0" anchor="t">
            <a:spAutoFit/>
          </a:bodyPr>
          <a:lstStyle/>
          <a:p>
            <a:pPr algn="l">
              <a:lnSpc>
                <a:spcPct val="105000"/>
              </a:lnSpc>
              <a:spcAft>
                <a:spcPts val="0"/>
              </a:spcAft>
            </a:pPr>
            <a:r>
              <a:rPr sz="1700" b="1">
                <a:solidFill>
                  <a:srgbClr val="EEF3F8"/>
                </a:solidFill>
                <a:latin typeface="Segoe UI"/>
              </a:rPr>
              <a:t>White tick</a:t>
            </a:r>
            <a:r>
              <a:rPr sz="1700" b="0">
                <a:solidFill>
                  <a:srgbClr val="B3C0CF"/>
                </a:solidFill>
                <a:latin typeface="Segoe UI"/>
              </a:rPr>
              <a:t> = what a healthy engine would read right now.</a:t>
            </a:r>
          </a:p>
        </p:txBody>
      </p:sp>
      <p:sp>
        <p:nvSpPr>
          <p:cNvPr id="9" name="Rectangle 8"/>
          <p:cNvSpPr/>
          <p:nvPr/>
        </p:nvSpPr>
        <p:spPr>
          <a:xfrm>
            <a:off x="548640" y="2561844"/>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479548"/>
            <a:ext cx="3291840" cy="544068"/>
          </a:xfrm>
          <a:prstGeom prst="rect">
            <a:avLst/>
          </a:prstGeom>
          <a:noFill/>
        </p:spPr>
        <p:txBody>
          <a:bodyPr wrap="square" lIns="0" rIns="0" tIns="0" bIns="0" anchor="t">
            <a:spAutoFit/>
          </a:bodyPr>
          <a:lstStyle/>
          <a:p>
            <a:pPr algn="l">
              <a:lnSpc>
                <a:spcPct val="105000"/>
              </a:lnSpc>
              <a:spcAft>
                <a:spcPts val="0"/>
              </a:spcAft>
            </a:pPr>
            <a:r>
              <a:rPr sz="1700" b="1">
                <a:solidFill>
                  <a:srgbClr val="EEF3F8"/>
                </a:solidFill>
                <a:latin typeface="Consolas"/>
              </a:rPr>
              <a:t>Δ</a:t>
            </a:r>
            <a:r>
              <a:rPr sz="1700" b="0">
                <a:solidFill>
                  <a:srgbClr val="B3C0CF"/>
                </a:solidFill>
                <a:latin typeface="Segoe UI"/>
              </a:rPr>
              <a:t> turns coloured once the gap leaves the noise band.</a:t>
            </a:r>
          </a:p>
        </p:txBody>
      </p:sp>
      <p:sp>
        <p:nvSpPr>
          <p:cNvPr id="11" name="Rectangle 10"/>
          <p:cNvSpPr/>
          <p:nvPr/>
        </p:nvSpPr>
        <p:spPr>
          <a:xfrm>
            <a:off x="548640" y="3258312"/>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3176016"/>
            <a:ext cx="3291840" cy="544068"/>
          </a:xfrm>
          <a:prstGeom prst="rect">
            <a:avLst/>
          </a:prstGeom>
          <a:noFill/>
        </p:spPr>
        <p:txBody>
          <a:bodyPr wrap="square" lIns="0" rIns="0" tIns="0" bIns="0" anchor="t">
            <a:spAutoFit/>
          </a:bodyPr>
          <a:lstStyle/>
          <a:p>
            <a:pPr algn="l">
              <a:lnSpc>
                <a:spcPct val="105000"/>
              </a:lnSpc>
              <a:spcAft>
                <a:spcPts val="0"/>
              </a:spcAft>
            </a:pPr>
            <a:r>
              <a:rPr sz="1700" b="0">
                <a:solidFill>
                  <a:srgbClr val="B3C0CF"/>
                </a:solidFill>
                <a:latin typeface="Segoe UI"/>
              </a:rPr>
              <a:t>A dead sensor shows — —, never zero.</a:t>
            </a:r>
          </a:p>
        </p:txBody>
      </p:sp>
      <p:sp>
        <p:nvSpPr>
          <p:cNvPr id="13" name="Rectangle 12"/>
          <p:cNvSpPr/>
          <p:nvPr/>
        </p:nvSpPr>
        <p:spPr>
          <a:xfrm>
            <a:off x="548640" y="3954780"/>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3872484"/>
            <a:ext cx="3291840" cy="544068"/>
          </a:xfrm>
          <a:prstGeom prst="rect">
            <a:avLst/>
          </a:prstGeom>
          <a:noFill/>
        </p:spPr>
        <p:txBody>
          <a:bodyPr wrap="square" lIns="0" rIns="0" tIns="0" bIns="0" anchor="t">
            <a:spAutoFit/>
          </a:bodyPr>
          <a:lstStyle/>
          <a:p>
            <a:pPr algn="l">
              <a:lnSpc>
                <a:spcPct val="105000"/>
              </a:lnSpc>
              <a:spcAft>
                <a:spcPts val="0"/>
              </a:spcAft>
            </a:pPr>
            <a:r>
              <a:rPr sz="1700" b="1">
                <a:solidFill>
                  <a:srgbClr val="EEF3F8"/>
                </a:solidFill>
                <a:latin typeface="Segoe UI"/>
              </a:rPr>
              <a:t>Click any value</a:t>
            </a:r>
            <a:r>
              <a:rPr sz="1700" b="0">
                <a:solidFill>
                  <a:srgbClr val="B3C0CF"/>
                </a:solidFill>
                <a:latin typeface="Segoe UI"/>
              </a:rPr>
              <a:t> to see the equation behind it.</a:t>
            </a:r>
          </a:p>
        </p:txBody>
      </p:sp>
      <p:sp>
        <p:nvSpPr>
          <p:cNvPr id="15" name="Rectangle 14"/>
          <p:cNvSpPr/>
          <p:nvPr/>
        </p:nvSpPr>
        <p:spPr>
          <a:xfrm>
            <a:off x="4315968" y="2713441"/>
            <a:ext cx="7415784" cy="2482676"/>
          </a:xfrm>
          <a:prstGeom prst="rect">
            <a:avLst/>
          </a:prstGeom>
          <a:solidFill>
            <a:srgbClr val="263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live-signals.png"/>
          <p:cNvPicPr>
            <a:picLocks noChangeAspect="1"/>
          </p:cNvPicPr>
          <p:nvPr/>
        </p:nvPicPr>
        <p:blipFill>
          <a:blip r:embed="rId3"/>
          <a:stretch>
            <a:fillRect/>
          </a:stretch>
        </p:blipFill>
        <p:spPr>
          <a:xfrm>
            <a:off x="4343400" y="2740873"/>
            <a:ext cx="7360920" cy="242781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131C"/>
        </a:solidFill>
        <a:effectLst/>
      </p:bgPr>
    </p:bg>
    <p:spTree>
      <p:nvGrpSpPr>
        <p:cNvPr id="1" name=""/>
        <p:cNvGrpSpPr/>
        <p:nvPr/>
      </p:nvGrpSpPr>
      <p:grpSpPr/>
      <p:sp>
        <p:nvSpPr>
          <p:cNvPr id="2" name="TextBox 1"/>
          <p:cNvSpPr txBox="1"/>
          <p:nvPr/>
        </p:nvSpPr>
        <p:spPr>
          <a:xfrm>
            <a:off x="548640" y="384048"/>
            <a:ext cx="7315200" cy="274320"/>
          </a:xfrm>
          <a:prstGeom prst="rect">
            <a:avLst/>
          </a:prstGeom>
          <a:noFill/>
        </p:spPr>
        <p:txBody>
          <a:bodyPr wrap="square" lIns="0" rIns="0" tIns="0" bIns="0" anchor="t">
            <a:spAutoFit/>
          </a:bodyPr>
          <a:lstStyle/>
          <a:p>
            <a:pPr algn="l">
              <a:lnSpc>
                <a:spcPct val="110000"/>
              </a:lnSpc>
              <a:spcAft>
                <a:spcPts val="0"/>
              </a:spcAft>
            </a:pPr>
            <a:r>
              <a:rPr sz="1200" b="1">
                <a:solidFill>
                  <a:srgbClr val="35E0F0"/>
                </a:solidFill>
                <a:latin typeface="Consolas"/>
              </a:rPr>
              <a:t>05 · BREAK IT, AND IT SHOWS</a:t>
            </a:r>
          </a:p>
        </p:txBody>
      </p:sp>
      <p:sp>
        <p:nvSpPr>
          <p:cNvPr id="3" name="Rectangle 2"/>
          <p:cNvSpPr/>
          <p:nvPr/>
        </p:nvSpPr>
        <p:spPr>
          <a:xfrm>
            <a:off x="548640" y="6400800"/>
            <a:ext cx="11094415" cy="9144"/>
          </a:xfrm>
          <a:prstGeom prst="rect">
            <a:avLst/>
          </a:prstGeom>
          <a:solidFill>
            <a:srgbClr val="263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lnSpc>
                <a:spcPct val="110000"/>
              </a:lnSpc>
              <a:spcAft>
                <a:spcPts val="0"/>
              </a:spcAft>
            </a:pPr>
            <a:r>
              <a:rPr sz="1000" b="0">
                <a:solidFill>
                  <a:srgbClr val="7F8FA3"/>
                </a:solidFill>
                <a:latin typeface="Consolas"/>
              </a:rPr>
              <a:t>IGNISENSE  ·  TEAM REVORA</a:t>
            </a:r>
          </a:p>
        </p:txBody>
      </p:sp>
      <p:sp>
        <p:nvSpPr>
          <p:cNvPr id="5" name="TextBox 4"/>
          <p:cNvSpPr txBox="1"/>
          <p:nvPr/>
        </p:nvSpPr>
        <p:spPr>
          <a:xfrm>
            <a:off x="9814255" y="6473952"/>
            <a:ext cx="1828800" cy="228600"/>
          </a:xfrm>
          <a:prstGeom prst="rect">
            <a:avLst/>
          </a:prstGeom>
          <a:noFill/>
        </p:spPr>
        <p:txBody>
          <a:bodyPr wrap="square" lIns="0" rIns="0" tIns="0" bIns="0" anchor="t">
            <a:spAutoFit/>
          </a:bodyPr>
          <a:lstStyle/>
          <a:p>
            <a:pPr algn="r">
              <a:lnSpc>
                <a:spcPct val="110000"/>
              </a:lnSpc>
              <a:spcAft>
                <a:spcPts val="0"/>
              </a:spcAft>
            </a:pPr>
            <a:r>
              <a:rPr sz="1000" b="0">
                <a:solidFill>
                  <a:srgbClr val="7F8FA3"/>
                </a:solidFill>
                <a:latin typeface="Consolas"/>
              </a:rPr>
              <a:t>06 / 17</a:t>
            </a:r>
          </a:p>
        </p:txBody>
      </p:sp>
      <p:sp>
        <p:nvSpPr>
          <p:cNvPr id="6" name="TextBox 5"/>
          <p:cNvSpPr txBox="1"/>
          <p:nvPr/>
        </p:nvSpPr>
        <p:spPr>
          <a:xfrm>
            <a:off x="548640" y="713232"/>
            <a:ext cx="4297680" cy="914400"/>
          </a:xfrm>
          <a:prstGeom prst="rect">
            <a:avLst/>
          </a:prstGeom>
          <a:noFill/>
        </p:spPr>
        <p:txBody>
          <a:bodyPr wrap="square" lIns="0" rIns="0" tIns="0" bIns="0" anchor="t">
            <a:spAutoFit/>
          </a:bodyPr>
          <a:lstStyle/>
          <a:p>
            <a:pPr algn="l">
              <a:lnSpc>
                <a:spcPct val="100000"/>
              </a:lnSpc>
              <a:spcAft>
                <a:spcPts val="0"/>
              </a:spcAft>
            </a:pPr>
            <a:r>
              <a:rPr sz="3000" b="1">
                <a:solidFill>
                  <a:srgbClr val="EEF3F8"/>
                </a:solidFill>
                <a:latin typeface="Segoe UI"/>
              </a:rPr>
              <a:t>Inject a fault. Watch it show.</a:t>
            </a:r>
          </a:p>
        </p:txBody>
      </p:sp>
      <p:sp>
        <p:nvSpPr>
          <p:cNvPr id="7" name="Rectangle 6"/>
          <p:cNvSpPr/>
          <p:nvPr/>
        </p:nvSpPr>
        <p:spPr>
          <a:xfrm>
            <a:off x="548640" y="2596896"/>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2514600"/>
            <a:ext cx="4023360" cy="544068"/>
          </a:xfrm>
          <a:prstGeom prst="rect">
            <a:avLst/>
          </a:prstGeom>
          <a:noFill/>
        </p:spPr>
        <p:txBody>
          <a:bodyPr wrap="square" lIns="0" rIns="0" tIns="0" bIns="0" anchor="t">
            <a:spAutoFit/>
          </a:bodyPr>
          <a:lstStyle/>
          <a:p>
            <a:pPr algn="l">
              <a:lnSpc>
                <a:spcPct val="105000"/>
              </a:lnSpc>
              <a:spcAft>
                <a:spcPts val="0"/>
              </a:spcAft>
            </a:pPr>
            <a:r>
              <a:rPr sz="1700" b="0">
                <a:solidFill>
                  <a:srgbClr val="B3C0CF"/>
                </a:solidFill>
                <a:latin typeface="Segoe UI"/>
              </a:rPr>
              <a:t>Oil-pump wear injected from the test bench.</a:t>
            </a:r>
          </a:p>
        </p:txBody>
      </p:sp>
      <p:sp>
        <p:nvSpPr>
          <p:cNvPr id="9" name="Rectangle 8"/>
          <p:cNvSpPr/>
          <p:nvPr/>
        </p:nvSpPr>
        <p:spPr>
          <a:xfrm>
            <a:off x="548640" y="3293364"/>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3211068"/>
            <a:ext cx="4023360" cy="544068"/>
          </a:xfrm>
          <a:prstGeom prst="rect">
            <a:avLst/>
          </a:prstGeom>
          <a:noFill/>
        </p:spPr>
        <p:txBody>
          <a:bodyPr wrap="square" lIns="0" rIns="0" tIns="0" bIns="0" anchor="t">
            <a:spAutoFit/>
          </a:bodyPr>
          <a:lstStyle/>
          <a:p>
            <a:pPr algn="l">
              <a:lnSpc>
                <a:spcPct val="105000"/>
              </a:lnSpc>
              <a:spcAft>
                <a:spcPts val="0"/>
              </a:spcAft>
            </a:pPr>
            <a:r>
              <a:rPr sz="1700" b="0">
                <a:solidFill>
                  <a:srgbClr val="B3C0CF"/>
                </a:solidFill>
                <a:latin typeface="Segoe UI"/>
              </a:rPr>
              <a:t>The sump and oil gallery pulse red; the health ring drops and turns orange.</a:t>
            </a:r>
          </a:p>
        </p:txBody>
      </p:sp>
      <p:sp>
        <p:nvSpPr>
          <p:cNvPr id="11" name="Rectangle 10"/>
          <p:cNvSpPr/>
          <p:nvPr/>
        </p:nvSpPr>
        <p:spPr>
          <a:xfrm>
            <a:off x="548640" y="3989832"/>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3907536"/>
            <a:ext cx="4023360" cy="544068"/>
          </a:xfrm>
          <a:prstGeom prst="rect">
            <a:avLst/>
          </a:prstGeom>
          <a:noFill/>
        </p:spPr>
        <p:txBody>
          <a:bodyPr wrap="square" lIns="0" rIns="0" tIns="0" bIns="0" anchor="t">
            <a:spAutoFit/>
          </a:bodyPr>
          <a:lstStyle/>
          <a:p>
            <a:pPr algn="l">
              <a:lnSpc>
                <a:spcPct val="105000"/>
              </a:lnSpc>
              <a:spcAft>
                <a:spcPts val="0"/>
              </a:spcAft>
            </a:pPr>
            <a:r>
              <a:rPr sz="1700" b="0">
                <a:solidFill>
                  <a:srgbClr val="B3C0CF"/>
                </a:solidFill>
                <a:latin typeface="Segoe UI"/>
              </a:rPr>
              <a:t>The monitor names </a:t>
            </a:r>
            <a:r>
              <a:rPr sz="1700" b="1">
                <a:solidFill>
                  <a:srgbClr val="EEF3F8"/>
                </a:solidFill>
                <a:latin typeface="Segoe UI"/>
              </a:rPr>
              <a:t>Lubrication-system degradation</a:t>
            </a:r>
            <a:r>
              <a:rPr sz="1700" b="0">
                <a:solidFill>
                  <a:srgbClr val="B3C0CF"/>
                </a:solidFill>
                <a:latin typeface="Segoe UI"/>
              </a:rPr>
              <a:t> from the sensors alone.</a:t>
            </a:r>
          </a:p>
        </p:txBody>
      </p:sp>
      <p:sp>
        <p:nvSpPr>
          <p:cNvPr id="13" name="Rectangle 12"/>
          <p:cNvSpPr/>
          <p:nvPr/>
        </p:nvSpPr>
        <p:spPr>
          <a:xfrm>
            <a:off x="548640" y="4686300"/>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4604004"/>
            <a:ext cx="4023360" cy="272034"/>
          </a:xfrm>
          <a:prstGeom prst="rect">
            <a:avLst/>
          </a:prstGeom>
          <a:noFill/>
        </p:spPr>
        <p:txBody>
          <a:bodyPr wrap="square" lIns="0" rIns="0" tIns="0" bIns="0" anchor="t">
            <a:spAutoFit/>
          </a:bodyPr>
          <a:lstStyle/>
          <a:p>
            <a:pPr algn="l">
              <a:lnSpc>
                <a:spcPct val="105000"/>
              </a:lnSpc>
              <a:spcAft>
                <a:spcPts val="0"/>
              </a:spcAft>
            </a:pPr>
            <a:r>
              <a:rPr sz="1700" b="0">
                <a:solidFill>
                  <a:srgbClr val="B3C0CF"/>
                </a:solidFill>
                <a:latin typeface="Segoe UI"/>
              </a:rPr>
              <a:t>Repair, and everything settles back.</a:t>
            </a:r>
          </a:p>
        </p:txBody>
      </p:sp>
      <p:sp>
        <p:nvSpPr>
          <p:cNvPr id="15" name="Rectangle 14"/>
          <p:cNvSpPr/>
          <p:nvPr/>
        </p:nvSpPr>
        <p:spPr>
          <a:xfrm>
            <a:off x="5138928" y="1267566"/>
            <a:ext cx="6592824" cy="4642906"/>
          </a:xfrm>
          <a:prstGeom prst="rect">
            <a:avLst/>
          </a:prstGeom>
          <a:solidFill>
            <a:srgbClr val="263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live-fault.png"/>
          <p:cNvPicPr>
            <a:picLocks noChangeAspect="1"/>
          </p:cNvPicPr>
          <p:nvPr/>
        </p:nvPicPr>
        <p:blipFill>
          <a:blip r:embed="rId3"/>
          <a:stretch>
            <a:fillRect/>
          </a:stretch>
        </p:blipFill>
        <p:spPr>
          <a:xfrm>
            <a:off x="5166360" y="1294998"/>
            <a:ext cx="6537960" cy="458804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131C"/>
        </a:solidFill>
        <a:effectLst/>
      </p:bgPr>
    </p:bg>
    <p:spTree>
      <p:nvGrpSpPr>
        <p:cNvPr id="1" name=""/>
        <p:cNvGrpSpPr/>
        <p:nvPr/>
      </p:nvGrpSpPr>
      <p:grpSpPr/>
      <p:sp>
        <p:nvSpPr>
          <p:cNvPr id="2" name="TextBox 1"/>
          <p:cNvSpPr txBox="1"/>
          <p:nvPr/>
        </p:nvSpPr>
        <p:spPr>
          <a:xfrm>
            <a:off x="548640" y="384048"/>
            <a:ext cx="7315200" cy="274320"/>
          </a:xfrm>
          <a:prstGeom prst="rect">
            <a:avLst/>
          </a:prstGeom>
          <a:noFill/>
        </p:spPr>
        <p:txBody>
          <a:bodyPr wrap="square" lIns="0" rIns="0" tIns="0" bIns="0" anchor="t">
            <a:spAutoFit/>
          </a:bodyPr>
          <a:lstStyle/>
          <a:p>
            <a:pPr algn="l">
              <a:lnSpc>
                <a:spcPct val="110000"/>
              </a:lnSpc>
              <a:spcAft>
                <a:spcPts val="0"/>
              </a:spcAft>
            </a:pPr>
            <a:r>
              <a:rPr sz="1200" b="1">
                <a:solidFill>
                  <a:srgbClr val="35E0F0"/>
                </a:solidFill>
                <a:latin typeface="Consolas"/>
              </a:rPr>
              <a:t>06 · DIAGNOSIS</a:t>
            </a:r>
          </a:p>
        </p:txBody>
      </p:sp>
      <p:sp>
        <p:nvSpPr>
          <p:cNvPr id="3" name="Rectangle 2"/>
          <p:cNvSpPr/>
          <p:nvPr/>
        </p:nvSpPr>
        <p:spPr>
          <a:xfrm>
            <a:off x="548640" y="6400800"/>
            <a:ext cx="11094415" cy="9144"/>
          </a:xfrm>
          <a:prstGeom prst="rect">
            <a:avLst/>
          </a:prstGeom>
          <a:solidFill>
            <a:srgbClr val="263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lnSpc>
                <a:spcPct val="110000"/>
              </a:lnSpc>
              <a:spcAft>
                <a:spcPts val="0"/>
              </a:spcAft>
            </a:pPr>
            <a:r>
              <a:rPr sz="1000" b="0">
                <a:solidFill>
                  <a:srgbClr val="7F8FA3"/>
                </a:solidFill>
                <a:latin typeface="Consolas"/>
              </a:rPr>
              <a:t>IGNISENSE  ·  TEAM REVORA</a:t>
            </a:r>
          </a:p>
        </p:txBody>
      </p:sp>
      <p:sp>
        <p:nvSpPr>
          <p:cNvPr id="5" name="TextBox 4"/>
          <p:cNvSpPr txBox="1"/>
          <p:nvPr/>
        </p:nvSpPr>
        <p:spPr>
          <a:xfrm>
            <a:off x="9814255" y="6473952"/>
            <a:ext cx="1828800" cy="228600"/>
          </a:xfrm>
          <a:prstGeom prst="rect">
            <a:avLst/>
          </a:prstGeom>
          <a:noFill/>
        </p:spPr>
        <p:txBody>
          <a:bodyPr wrap="square" lIns="0" rIns="0" tIns="0" bIns="0" anchor="t">
            <a:spAutoFit/>
          </a:bodyPr>
          <a:lstStyle/>
          <a:p>
            <a:pPr algn="r">
              <a:lnSpc>
                <a:spcPct val="110000"/>
              </a:lnSpc>
              <a:spcAft>
                <a:spcPts val="0"/>
              </a:spcAft>
            </a:pPr>
            <a:r>
              <a:rPr sz="1000" b="0">
                <a:solidFill>
                  <a:srgbClr val="7F8FA3"/>
                </a:solidFill>
                <a:latin typeface="Consolas"/>
              </a:rPr>
              <a:t>07 / 17</a:t>
            </a:r>
          </a:p>
        </p:txBody>
      </p:sp>
      <p:sp>
        <p:nvSpPr>
          <p:cNvPr id="6" name="TextBox 5"/>
          <p:cNvSpPr txBox="1"/>
          <p:nvPr/>
        </p:nvSpPr>
        <p:spPr>
          <a:xfrm>
            <a:off x="548640" y="713232"/>
            <a:ext cx="11064240" cy="914400"/>
          </a:xfrm>
          <a:prstGeom prst="rect">
            <a:avLst/>
          </a:prstGeom>
          <a:noFill/>
        </p:spPr>
        <p:txBody>
          <a:bodyPr wrap="square" lIns="0" rIns="0" tIns="0" bIns="0" anchor="t">
            <a:spAutoFit/>
          </a:bodyPr>
          <a:lstStyle/>
          <a:p>
            <a:pPr algn="l">
              <a:lnSpc>
                <a:spcPct val="100000"/>
              </a:lnSpc>
              <a:spcAft>
                <a:spcPts val="0"/>
              </a:spcAft>
            </a:pPr>
            <a:r>
              <a:rPr sz="3000" b="1">
                <a:solidFill>
                  <a:srgbClr val="EEF3F8"/>
                </a:solidFill>
                <a:latin typeface="Segoe UI"/>
              </a:rPr>
              <a:t>It names the fault, and shows its evidence</a:t>
            </a:r>
          </a:p>
        </p:txBody>
      </p:sp>
      <p:sp>
        <p:nvSpPr>
          <p:cNvPr id="7" name="Rectangle 6"/>
          <p:cNvSpPr/>
          <p:nvPr/>
        </p:nvSpPr>
        <p:spPr>
          <a:xfrm>
            <a:off x="548640" y="1865376"/>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783080"/>
            <a:ext cx="3291840" cy="544068"/>
          </a:xfrm>
          <a:prstGeom prst="rect">
            <a:avLst/>
          </a:prstGeom>
          <a:noFill/>
        </p:spPr>
        <p:txBody>
          <a:bodyPr wrap="square" lIns="0" rIns="0" tIns="0" bIns="0" anchor="t">
            <a:spAutoFit/>
          </a:bodyPr>
          <a:lstStyle/>
          <a:p>
            <a:pPr algn="l">
              <a:lnSpc>
                <a:spcPct val="105000"/>
              </a:lnSpc>
              <a:spcAft>
                <a:spcPts val="0"/>
              </a:spcAft>
            </a:pPr>
            <a:r>
              <a:rPr sz="1700" b="0">
                <a:solidFill>
                  <a:srgbClr val="B3C0CF"/>
                </a:solidFill>
                <a:latin typeface="Segoe UI"/>
              </a:rPr>
              <a:t>Probable fault, severity, and a diagnostic evidence score.</a:t>
            </a:r>
          </a:p>
        </p:txBody>
      </p:sp>
      <p:sp>
        <p:nvSpPr>
          <p:cNvPr id="9" name="Rectangle 8"/>
          <p:cNvSpPr/>
          <p:nvPr/>
        </p:nvSpPr>
        <p:spPr>
          <a:xfrm>
            <a:off x="548640" y="2561844"/>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479548"/>
            <a:ext cx="3291840" cy="816102"/>
          </a:xfrm>
          <a:prstGeom prst="rect">
            <a:avLst/>
          </a:prstGeom>
          <a:noFill/>
        </p:spPr>
        <p:txBody>
          <a:bodyPr wrap="square" lIns="0" rIns="0" tIns="0" bIns="0" anchor="t">
            <a:spAutoFit/>
          </a:bodyPr>
          <a:lstStyle/>
          <a:p>
            <a:pPr algn="l">
              <a:lnSpc>
                <a:spcPct val="105000"/>
              </a:lnSpc>
              <a:spcAft>
                <a:spcPts val="0"/>
              </a:spcAft>
            </a:pPr>
            <a:r>
              <a:rPr sz="1700" b="0">
                <a:solidFill>
                  <a:srgbClr val="B3C0CF"/>
                </a:solidFill>
                <a:latin typeface="Segoe UI"/>
              </a:rPr>
              <a:t>"Why the system thinks this": named symptoms, each colour-coded.</a:t>
            </a:r>
          </a:p>
        </p:txBody>
      </p:sp>
      <p:sp>
        <p:nvSpPr>
          <p:cNvPr id="11" name="Rectangle 10"/>
          <p:cNvSpPr/>
          <p:nvPr/>
        </p:nvSpPr>
        <p:spPr>
          <a:xfrm>
            <a:off x="548640" y="3530346"/>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3448050"/>
            <a:ext cx="3291840" cy="544068"/>
          </a:xfrm>
          <a:prstGeom prst="rect">
            <a:avLst/>
          </a:prstGeom>
          <a:noFill/>
        </p:spPr>
        <p:txBody>
          <a:bodyPr wrap="square" lIns="0" rIns="0" tIns="0" bIns="0" anchor="t">
            <a:spAutoFit/>
          </a:bodyPr>
          <a:lstStyle/>
          <a:p>
            <a:pPr algn="l">
              <a:lnSpc>
                <a:spcPct val="105000"/>
              </a:lnSpc>
              <a:spcAft>
                <a:spcPts val="0"/>
              </a:spcAft>
            </a:pPr>
            <a:r>
              <a:rPr sz="1700" b="0">
                <a:solidFill>
                  <a:srgbClr val="B3C0CF"/>
                </a:solidFill>
                <a:latin typeface="Segoe UI"/>
              </a:rPr>
              <a:t>A recommended action and the model's own confidence.</a:t>
            </a:r>
          </a:p>
        </p:txBody>
      </p:sp>
      <p:sp>
        <p:nvSpPr>
          <p:cNvPr id="13" name="Rectangle 12"/>
          <p:cNvSpPr/>
          <p:nvPr/>
        </p:nvSpPr>
        <p:spPr>
          <a:xfrm>
            <a:off x="548640" y="4226814"/>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4144518"/>
            <a:ext cx="3291840" cy="816102"/>
          </a:xfrm>
          <a:prstGeom prst="rect">
            <a:avLst/>
          </a:prstGeom>
          <a:noFill/>
        </p:spPr>
        <p:txBody>
          <a:bodyPr wrap="square" lIns="0" rIns="0" tIns="0" bIns="0" anchor="t">
            <a:spAutoFit/>
          </a:bodyPr>
          <a:lstStyle/>
          <a:p>
            <a:pPr algn="l">
              <a:lnSpc>
                <a:spcPct val="105000"/>
              </a:lnSpc>
              <a:spcAft>
                <a:spcPts val="0"/>
              </a:spcAft>
            </a:pPr>
            <a:r>
              <a:rPr sz="1700" b="0">
                <a:solidFill>
                  <a:srgbClr val="B3C0CF"/>
                </a:solidFill>
                <a:latin typeface="Segoe UI"/>
              </a:rPr>
              <a:t>Alerts escalate WATCH → WARNING → CRITICAL, with hysteresis.</a:t>
            </a:r>
          </a:p>
        </p:txBody>
      </p:sp>
      <p:sp>
        <p:nvSpPr>
          <p:cNvPr id="15" name="Rectangle 14"/>
          <p:cNvSpPr/>
          <p:nvPr/>
        </p:nvSpPr>
        <p:spPr>
          <a:xfrm>
            <a:off x="4315968" y="2145230"/>
            <a:ext cx="7415784" cy="3619098"/>
          </a:xfrm>
          <a:prstGeom prst="rect">
            <a:avLst/>
          </a:prstGeom>
          <a:solidFill>
            <a:srgbClr val="263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live-diagnosis.png"/>
          <p:cNvPicPr>
            <a:picLocks noChangeAspect="1"/>
          </p:cNvPicPr>
          <p:nvPr/>
        </p:nvPicPr>
        <p:blipFill>
          <a:blip r:embed="rId3"/>
          <a:stretch>
            <a:fillRect/>
          </a:stretch>
        </p:blipFill>
        <p:spPr>
          <a:xfrm>
            <a:off x="4343400" y="2172662"/>
            <a:ext cx="7360920" cy="356423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131C"/>
        </a:solidFill>
        <a:effectLst/>
      </p:bgPr>
    </p:bg>
    <p:spTree>
      <p:nvGrpSpPr>
        <p:cNvPr id="1" name=""/>
        <p:cNvGrpSpPr/>
        <p:nvPr/>
      </p:nvGrpSpPr>
      <p:grpSpPr/>
      <p:sp>
        <p:nvSpPr>
          <p:cNvPr id="2" name="TextBox 1"/>
          <p:cNvSpPr txBox="1"/>
          <p:nvPr/>
        </p:nvSpPr>
        <p:spPr>
          <a:xfrm>
            <a:off x="548640" y="384048"/>
            <a:ext cx="7315200" cy="274320"/>
          </a:xfrm>
          <a:prstGeom prst="rect">
            <a:avLst/>
          </a:prstGeom>
          <a:noFill/>
        </p:spPr>
        <p:txBody>
          <a:bodyPr wrap="square" lIns="0" rIns="0" tIns="0" bIns="0" anchor="t">
            <a:spAutoFit/>
          </a:bodyPr>
          <a:lstStyle/>
          <a:p>
            <a:pPr algn="l">
              <a:lnSpc>
                <a:spcPct val="110000"/>
              </a:lnSpc>
              <a:spcAft>
                <a:spcPts val="0"/>
              </a:spcAft>
            </a:pPr>
            <a:r>
              <a:rPr sz="1200" b="1">
                <a:solidFill>
                  <a:srgbClr val="35E0F0"/>
                </a:solidFill>
                <a:latin typeface="Consolas"/>
              </a:rPr>
              <a:t>07 · EARLY WARNING</a:t>
            </a:r>
          </a:p>
        </p:txBody>
      </p:sp>
      <p:sp>
        <p:nvSpPr>
          <p:cNvPr id="3" name="Rectangle 2"/>
          <p:cNvSpPr/>
          <p:nvPr/>
        </p:nvSpPr>
        <p:spPr>
          <a:xfrm>
            <a:off x="548640" y="6400800"/>
            <a:ext cx="11094415" cy="9144"/>
          </a:xfrm>
          <a:prstGeom prst="rect">
            <a:avLst/>
          </a:prstGeom>
          <a:solidFill>
            <a:srgbClr val="263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lnSpc>
                <a:spcPct val="110000"/>
              </a:lnSpc>
              <a:spcAft>
                <a:spcPts val="0"/>
              </a:spcAft>
            </a:pPr>
            <a:r>
              <a:rPr sz="1000" b="0">
                <a:solidFill>
                  <a:srgbClr val="7F8FA3"/>
                </a:solidFill>
                <a:latin typeface="Consolas"/>
              </a:rPr>
              <a:t>IGNISENSE  ·  TEAM REVORA</a:t>
            </a:r>
          </a:p>
        </p:txBody>
      </p:sp>
      <p:sp>
        <p:nvSpPr>
          <p:cNvPr id="5" name="TextBox 4"/>
          <p:cNvSpPr txBox="1"/>
          <p:nvPr/>
        </p:nvSpPr>
        <p:spPr>
          <a:xfrm>
            <a:off x="9814255" y="6473952"/>
            <a:ext cx="1828800" cy="228600"/>
          </a:xfrm>
          <a:prstGeom prst="rect">
            <a:avLst/>
          </a:prstGeom>
          <a:noFill/>
        </p:spPr>
        <p:txBody>
          <a:bodyPr wrap="square" lIns="0" rIns="0" tIns="0" bIns="0" anchor="t">
            <a:spAutoFit/>
          </a:bodyPr>
          <a:lstStyle/>
          <a:p>
            <a:pPr algn="r">
              <a:lnSpc>
                <a:spcPct val="110000"/>
              </a:lnSpc>
              <a:spcAft>
                <a:spcPts val="0"/>
              </a:spcAft>
            </a:pPr>
            <a:r>
              <a:rPr sz="1000" b="0">
                <a:solidFill>
                  <a:srgbClr val="7F8FA3"/>
                </a:solidFill>
                <a:latin typeface="Consolas"/>
              </a:rPr>
              <a:t>08 / 17</a:t>
            </a:r>
          </a:p>
        </p:txBody>
      </p:sp>
      <p:sp>
        <p:nvSpPr>
          <p:cNvPr id="6" name="TextBox 5"/>
          <p:cNvSpPr txBox="1"/>
          <p:nvPr/>
        </p:nvSpPr>
        <p:spPr>
          <a:xfrm>
            <a:off x="548640" y="713232"/>
            <a:ext cx="11064240" cy="914400"/>
          </a:xfrm>
          <a:prstGeom prst="rect">
            <a:avLst/>
          </a:prstGeom>
          <a:noFill/>
        </p:spPr>
        <p:txBody>
          <a:bodyPr wrap="square" lIns="0" rIns="0" tIns="0" bIns="0" anchor="t">
            <a:spAutoFit/>
          </a:bodyPr>
          <a:lstStyle/>
          <a:p>
            <a:pPr algn="l">
              <a:lnSpc>
                <a:spcPct val="100000"/>
              </a:lnSpc>
              <a:spcAft>
                <a:spcPts val="0"/>
              </a:spcAft>
            </a:pPr>
            <a:r>
              <a:rPr sz="3000" b="1">
                <a:solidFill>
                  <a:srgbClr val="EEF3F8"/>
                </a:solidFill>
                <a:latin typeface="Segoe UI"/>
              </a:rPr>
              <a:t>It warns before any limit trips</a:t>
            </a:r>
          </a:p>
        </p:txBody>
      </p:sp>
      <p:sp>
        <p:nvSpPr>
          <p:cNvPr id="7" name="Rectangle 6"/>
          <p:cNvSpPr/>
          <p:nvPr/>
        </p:nvSpPr>
        <p:spPr>
          <a:xfrm>
            <a:off x="548640" y="1865376"/>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783080"/>
            <a:ext cx="3291840" cy="544068"/>
          </a:xfrm>
          <a:prstGeom prst="rect">
            <a:avLst/>
          </a:prstGeom>
          <a:noFill/>
        </p:spPr>
        <p:txBody>
          <a:bodyPr wrap="square" lIns="0" rIns="0" tIns="0" bIns="0" anchor="t">
            <a:spAutoFit/>
          </a:bodyPr>
          <a:lstStyle/>
          <a:p>
            <a:pPr algn="l">
              <a:lnSpc>
                <a:spcPct val="105000"/>
              </a:lnSpc>
              <a:spcAft>
                <a:spcPts val="0"/>
              </a:spcAft>
            </a:pPr>
            <a:r>
              <a:rPr sz="1700" b="1">
                <a:solidFill>
                  <a:srgbClr val="EEF3F8"/>
                </a:solidFill>
                <a:latin typeface="Segoe UI"/>
              </a:rPr>
              <a:t>CUSUM</a:t>
            </a:r>
            <a:r>
              <a:rPr sz="1700" b="0">
                <a:solidFill>
                  <a:srgbClr val="B3C0CF"/>
                </a:solidFill>
                <a:latin typeface="Segoe UI"/>
              </a:rPr>
              <a:t> adds up small, persistent shifts.</a:t>
            </a:r>
          </a:p>
        </p:txBody>
      </p:sp>
      <p:sp>
        <p:nvSpPr>
          <p:cNvPr id="9" name="Rectangle 8"/>
          <p:cNvSpPr/>
          <p:nvPr/>
        </p:nvSpPr>
        <p:spPr>
          <a:xfrm>
            <a:off x="548640" y="2561844"/>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479548"/>
            <a:ext cx="3291840" cy="816102"/>
          </a:xfrm>
          <a:prstGeom prst="rect">
            <a:avLst/>
          </a:prstGeom>
          <a:noFill/>
        </p:spPr>
        <p:txBody>
          <a:bodyPr wrap="square" lIns="0" rIns="0" tIns="0" bIns="0" anchor="t">
            <a:spAutoFit/>
          </a:bodyPr>
          <a:lstStyle/>
          <a:p>
            <a:pPr algn="l">
              <a:lnSpc>
                <a:spcPct val="105000"/>
              </a:lnSpc>
              <a:spcAft>
                <a:spcPts val="0"/>
              </a:spcAft>
            </a:pPr>
            <a:r>
              <a:rPr sz="1700" b="0">
                <a:solidFill>
                  <a:srgbClr val="B3C0CF"/>
                </a:solidFill>
                <a:latin typeface="Segoe UI"/>
              </a:rPr>
              <a:t>A gap of 1σ never crosses a 3σ limit. CUSUM crosses its limit in about 11 samples.</a:t>
            </a:r>
          </a:p>
        </p:txBody>
      </p:sp>
      <p:sp>
        <p:nvSpPr>
          <p:cNvPr id="11" name="Rectangle 10"/>
          <p:cNvSpPr/>
          <p:nvPr/>
        </p:nvSpPr>
        <p:spPr>
          <a:xfrm>
            <a:off x="548640" y="3530346"/>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3448050"/>
            <a:ext cx="3291840" cy="544068"/>
          </a:xfrm>
          <a:prstGeom prst="rect">
            <a:avLst/>
          </a:prstGeom>
          <a:noFill/>
        </p:spPr>
        <p:txBody>
          <a:bodyPr wrap="square" lIns="0" rIns="0" tIns="0" bIns="0" anchor="t">
            <a:spAutoFit/>
          </a:bodyPr>
          <a:lstStyle/>
          <a:p>
            <a:pPr algn="l">
              <a:lnSpc>
                <a:spcPct val="105000"/>
              </a:lnSpc>
              <a:spcAft>
                <a:spcPts val="0"/>
              </a:spcAft>
            </a:pPr>
            <a:r>
              <a:rPr sz="1700" b="1">
                <a:solidFill>
                  <a:srgbClr val="EEF3F8"/>
                </a:solidFill>
                <a:latin typeface="Segoe UI"/>
              </a:rPr>
              <a:t>D²</a:t>
            </a:r>
            <a:r>
              <a:rPr sz="1700" b="0">
                <a:solidFill>
                  <a:srgbClr val="B3C0CF"/>
                </a:solidFill>
                <a:latin typeface="Segoe UI"/>
              </a:rPr>
              <a:t> flags an unusual combination of residuals (χ² limit 15.09).</a:t>
            </a:r>
          </a:p>
        </p:txBody>
      </p:sp>
      <p:sp>
        <p:nvSpPr>
          <p:cNvPr id="13" name="Rectangle 12"/>
          <p:cNvSpPr/>
          <p:nvPr/>
        </p:nvSpPr>
        <p:spPr>
          <a:xfrm>
            <a:off x="548640" y="4226814"/>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4144518"/>
            <a:ext cx="3291840" cy="544068"/>
          </a:xfrm>
          <a:prstGeom prst="rect">
            <a:avLst/>
          </a:prstGeom>
          <a:noFill/>
        </p:spPr>
        <p:txBody>
          <a:bodyPr wrap="square" lIns="0" rIns="0" tIns="0" bIns="0" anchor="t">
            <a:spAutoFit/>
          </a:bodyPr>
          <a:lstStyle/>
          <a:p>
            <a:pPr algn="l">
              <a:lnSpc>
                <a:spcPct val="105000"/>
              </a:lnSpc>
              <a:spcAft>
                <a:spcPts val="0"/>
              </a:spcAft>
            </a:pPr>
            <a:r>
              <a:rPr sz="1700" b="0">
                <a:solidFill>
                  <a:srgbClr val="B3C0CF"/>
                </a:solidFill>
                <a:latin typeface="Segoe UI"/>
              </a:rPr>
              <a:t>Violet lines mark injections. Diamonds mark alerts.</a:t>
            </a:r>
          </a:p>
        </p:txBody>
      </p:sp>
      <p:sp>
        <p:nvSpPr>
          <p:cNvPr id="15" name="Rectangle 14"/>
          <p:cNvSpPr/>
          <p:nvPr/>
        </p:nvSpPr>
        <p:spPr>
          <a:xfrm>
            <a:off x="4315968" y="1754854"/>
            <a:ext cx="7415784" cy="4399851"/>
          </a:xfrm>
          <a:prstGeom prst="rect">
            <a:avLst/>
          </a:prstGeom>
          <a:solidFill>
            <a:srgbClr val="263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trends-fault.png"/>
          <p:cNvPicPr>
            <a:picLocks noChangeAspect="1"/>
          </p:cNvPicPr>
          <p:nvPr/>
        </p:nvPicPr>
        <p:blipFill>
          <a:blip r:embed="rId3"/>
          <a:stretch>
            <a:fillRect/>
          </a:stretch>
        </p:blipFill>
        <p:spPr>
          <a:xfrm>
            <a:off x="4343400" y="1782286"/>
            <a:ext cx="7360920" cy="4344987"/>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C131C"/>
        </a:solidFill>
        <a:effectLst/>
      </p:bgPr>
    </p:bg>
    <p:spTree>
      <p:nvGrpSpPr>
        <p:cNvPr id="1" name=""/>
        <p:cNvGrpSpPr/>
        <p:nvPr/>
      </p:nvGrpSpPr>
      <p:grpSpPr/>
      <p:sp>
        <p:nvSpPr>
          <p:cNvPr id="2" name="TextBox 1"/>
          <p:cNvSpPr txBox="1"/>
          <p:nvPr/>
        </p:nvSpPr>
        <p:spPr>
          <a:xfrm>
            <a:off x="548640" y="384048"/>
            <a:ext cx="7315200" cy="274320"/>
          </a:xfrm>
          <a:prstGeom prst="rect">
            <a:avLst/>
          </a:prstGeom>
          <a:noFill/>
        </p:spPr>
        <p:txBody>
          <a:bodyPr wrap="square" lIns="0" rIns="0" tIns="0" bIns="0" anchor="t">
            <a:spAutoFit/>
          </a:bodyPr>
          <a:lstStyle/>
          <a:p>
            <a:pPr algn="l">
              <a:lnSpc>
                <a:spcPct val="110000"/>
              </a:lnSpc>
              <a:spcAft>
                <a:spcPts val="0"/>
              </a:spcAft>
            </a:pPr>
            <a:r>
              <a:rPr sz="1200" b="1">
                <a:solidFill>
                  <a:srgbClr val="35E0F0"/>
                </a:solidFill>
                <a:latin typeface="Consolas"/>
              </a:rPr>
              <a:t>08 · WHICH CYLINDER?</a:t>
            </a:r>
          </a:p>
        </p:txBody>
      </p:sp>
      <p:sp>
        <p:nvSpPr>
          <p:cNvPr id="3" name="Rectangle 2"/>
          <p:cNvSpPr/>
          <p:nvPr/>
        </p:nvSpPr>
        <p:spPr>
          <a:xfrm>
            <a:off x="548640" y="6400800"/>
            <a:ext cx="11094415" cy="9144"/>
          </a:xfrm>
          <a:prstGeom prst="rect">
            <a:avLst/>
          </a:prstGeom>
          <a:solidFill>
            <a:srgbClr val="263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lnSpc>
                <a:spcPct val="110000"/>
              </a:lnSpc>
              <a:spcAft>
                <a:spcPts val="0"/>
              </a:spcAft>
            </a:pPr>
            <a:r>
              <a:rPr sz="1000" b="0">
                <a:solidFill>
                  <a:srgbClr val="7F8FA3"/>
                </a:solidFill>
                <a:latin typeface="Consolas"/>
              </a:rPr>
              <a:t>IGNISENSE  ·  TEAM REVORA</a:t>
            </a:r>
          </a:p>
        </p:txBody>
      </p:sp>
      <p:sp>
        <p:nvSpPr>
          <p:cNvPr id="5" name="TextBox 4"/>
          <p:cNvSpPr txBox="1"/>
          <p:nvPr/>
        </p:nvSpPr>
        <p:spPr>
          <a:xfrm>
            <a:off x="9814255" y="6473952"/>
            <a:ext cx="1828800" cy="228600"/>
          </a:xfrm>
          <a:prstGeom prst="rect">
            <a:avLst/>
          </a:prstGeom>
          <a:noFill/>
        </p:spPr>
        <p:txBody>
          <a:bodyPr wrap="square" lIns="0" rIns="0" tIns="0" bIns="0" anchor="t">
            <a:spAutoFit/>
          </a:bodyPr>
          <a:lstStyle/>
          <a:p>
            <a:pPr algn="r">
              <a:lnSpc>
                <a:spcPct val="110000"/>
              </a:lnSpc>
              <a:spcAft>
                <a:spcPts val="0"/>
              </a:spcAft>
            </a:pPr>
            <a:r>
              <a:rPr sz="1000" b="0">
                <a:solidFill>
                  <a:srgbClr val="7F8FA3"/>
                </a:solidFill>
                <a:latin typeface="Consolas"/>
              </a:rPr>
              <a:t>09 / 17</a:t>
            </a:r>
          </a:p>
        </p:txBody>
      </p:sp>
      <p:sp>
        <p:nvSpPr>
          <p:cNvPr id="6" name="TextBox 5"/>
          <p:cNvSpPr txBox="1"/>
          <p:nvPr/>
        </p:nvSpPr>
        <p:spPr>
          <a:xfrm>
            <a:off x="548640" y="713232"/>
            <a:ext cx="11064240" cy="914400"/>
          </a:xfrm>
          <a:prstGeom prst="rect">
            <a:avLst/>
          </a:prstGeom>
          <a:noFill/>
        </p:spPr>
        <p:txBody>
          <a:bodyPr wrap="square" lIns="0" rIns="0" tIns="0" bIns="0" anchor="t">
            <a:spAutoFit/>
          </a:bodyPr>
          <a:lstStyle/>
          <a:p>
            <a:pPr algn="l">
              <a:lnSpc>
                <a:spcPct val="100000"/>
              </a:lnSpc>
              <a:spcAft>
                <a:spcPts val="0"/>
              </a:spcAft>
            </a:pPr>
            <a:r>
              <a:rPr sz="3000" b="1">
                <a:solidFill>
                  <a:srgbClr val="EEF3F8"/>
                </a:solidFill>
                <a:latin typeface="Segoe UI"/>
              </a:rPr>
              <a:t>One missing pulse points at its cylinder</a:t>
            </a:r>
          </a:p>
        </p:txBody>
      </p:sp>
      <p:sp>
        <p:nvSpPr>
          <p:cNvPr id="7" name="Rectangle 6"/>
          <p:cNvSpPr/>
          <p:nvPr/>
        </p:nvSpPr>
        <p:spPr>
          <a:xfrm>
            <a:off x="548640" y="1865376"/>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783080"/>
            <a:ext cx="3291840" cy="544068"/>
          </a:xfrm>
          <a:prstGeom prst="rect">
            <a:avLst/>
          </a:prstGeom>
          <a:noFill/>
        </p:spPr>
        <p:txBody>
          <a:bodyPr wrap="square" lIns="0" rIns="0" tIns="0" bIns="0" anchor="t">
            <a:spAutoFit/>
          </a:bodyPr>
          <a:lstStyle/>
          <a:p>
            <a:pPr algn="l">
              <a:lnSpc>
                <a:spcPct val="105000"/>
              </a:lnSpc>
              <a:spcAft>
                <a:spcPts val="0"/>
              </a:spcAft>
            </a:pPr>
            <a:r>
              <a:rPr sz="1700" b="0">
                <a:solidFill>
                  <a:srgbClr val="B3C0CF"/>
                </a:solidFill>
                <a:latin typeface="Segoe UI"/>
              </a:rPr>
              <a:t>A misfire repeats every two revolutions: a 0.5× line.</a:t>
            </a:r>
          </a:p>
        </p:txBody>
      </p:sp>
      <p:sp>
        <p:nvSpPr>
          <p:cNvPr id="9" name="Rectangle 8"/>
          <p:cNvSpPr/>
          <p:nvPr/>
        </p:nvSpPr>
        <p:spPr>
          <a:xfrm>
            <a:off x="548640" y="2561844"/>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479548"/>
            <a:ext cx="3291840" cy="544068"/>
          </a:xfrm>
          <a:prstGeom prst="rect">
            <a:avLst/>
          </a:prstGeom>
          <a:noFill/>
        </p:spPr>
        <p:txBody>
          <a:bodyPr wrap="square" lIns="0" rIns="0" tIns="0" bIns="0" anchor="t">
            <a:spAutoFit/>
          </a:bodyPr>
          <a:lstStyle/>
          <a:p>
            <a:pPr algn="l">
              <a:lnSpc>
                <a:spcPct val="105000"/>
              </a:lnSpc>
              <a:spcAft>
                <a:spcPts val="0"/>
              </a:spcAft>
            </a:pPr>
            <a:r>
              <a:rPr sz="1700" b="0">
                <a:solidFill>
                  <a:srgbClr val="B3C0CF"/>
                </a:solidFill>
                <a:latin typeface="Segoe UI"/>
              </a:rPr>
              <a:t>That line's phase names the cylinder.</a:t>
            </a:r>
          </a:p>
        </p:txBody>
      </p:sp>
      <p:sp>
        <p:nvSpPr>
          <p:cNvPr id="11" name="Rectangle 10"/>
          <p:cNvSpPr/>
          <p:nvPr/>
        </p:nvSpPr>
        <p:spPr>
          <a:xfrm>
            <a:off x="548640" y="3258312"/>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3176016"/>
            <a:ext cx="3291840" cy="816102"/>
          </a:xfrm>
          <a:prstGeom prst="rect">
            <a:avLst/>
          </a:prstGeom>
          <a:noFill/>
        </p:spPr>
        <p:txBody>
          <a:bodyPr wrap="square" lIns="0" rIns="0" tIns="0" bIns="0" anchor="t">
            <a:spAutoFit/>
          </a:bodyPr>
          <a:lstStyle/>
          <a:p>
            <a:pPr algn="l">
              <a:lnSpc>
                <a:spcPct val="105000"/>
              </a:lnSpc>
              <a:spcAft>
                <a:spcPts val="0"/>
              </a:spcAft>
            </a:pPr>
            <a:r>
              <a:rPr sz="1700" b="0">
                <a:solidFill>
                  <a:srgbClr val="B3C0CF"/>
                </a:solidFill>
                <a:latin typeface="Segoe UI"/>
              </a:rPr>
              <a:t>Torque command rises by exactly </a:t>
            </a:r>
            <a:r>
              <a:rPr sz="1700" b="1">
                <a:solidFill>
                  <a:srgbClr val="35E0F0"/>
                </a:solidFill>
                <a:latin typeface="Segoe UI"/>
              </a:rPr>
              <a:t>4/3</a:t>
            </a:r>
            <a:r>
              <a:rPr sz="1700" b="0">
                <a:solidFill>
                  <a:srgbClr val="B3C0CF"/>
                </a:solidFill>
                <a:latin typeface="Segoe UI"/>
              </a:rPr>
              <a:t>: three cylinders do four's work.</a:t>
            </a:r>
          </a:p>
        </p:txBody>
      </p:sp>
      <p:sp>
        <p:nvSpPr>
          <p:cNvPr id="13" name="Rectangle 12"/>
          <p:cNvSpPr/>
          <p:nvPr/>
        </p:nvSpPr>
        <p:spPr>
          <a:xfrm>
            <a:off x="548640" y="4297680"/>
            <a:ext cx="3566160" cy="1874519"/>
          </a:xfrm>
          <a:prstGeom prst="rect">
            <a:avLst/>
          </a:prstGeom>
          <a:solidFill>
            <a:srgbClr val="121B26"/>
          </a:solidFill>
          <a:ln w="12700">
            <a:solidFill>
              <a:srgbClr val="2632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407408"/>
            <a:ext cx="3108960" cy="274320"/>
          </a:xfrm>
          <a:prstGeom prst="rect">
            <a:avLst/>
          </a:prstGeom>
          <a:noFill/>
        </p:spPr>
        <p:txBody>
          <a:bodyPr wrap="square" lIns="0" rIns="0" tIns="0" bIns="0" anchor="t">
            <a:spAutoFit/>
          </a:bodyPr>
          <a:lstStyle/>
          <a:p>
            <a:pPr algn="l">
              <a:lnSpc>
                <a:spcPct val="110000"/>
              </a:lnSpc>
              <a:spcAft>
                <a:spcPts val="0"/>
              </a:spcAft>
            </a:pPr>
            <a:r>
              <a:rPr sz="1100" b="1">
                <a:solidFill>
                  <a:srgbClr val="35E0F0"/>
                </a:solidFill>
                <a:latin typeface="Consolas"/>
              </a:rPr>
              <a:t>0.5× PHASE  →  CYLINDER</a:t>
            </a:r>
          </a:p>
        </p:txBody>
      </p:sp>
      <p:sp>
        <p:nvSpPr>
          <p:cNvPr id="15" name="TextBox 14"/>
          <p:cNvSpPr txBox="1"/>
          <p:nvPr/>
        </p:nvSpPr>
        <p:spPr>
          <a:xfrm>
            <a:off x="777240" y="4754880"/>
            <a:ext cx="1280160" cy="274320"/>
          </a:xfrm>
          <a:prstGeom prst="rect">
            <a:avLst/>
          </a:prstGeom>
          <a:noFill/>
        </p:spPr>
        <p:txBody>
          <a:bodyPr wrap="square" lIns="0" rIns="0" tIns="0" bIns="0" anchor="t">
            <a:spAutoFit/>
          </a:bodyPr>
          <a:lstStyle/>
          <a:p>
            <a:pPr algn="l">
              <a:lnSpc>
                <a:spcPct val="110000"/>
              </a:lnSpc>
              <a:spcAft>
                <a:spcPts val="0"/>
              </a:spcAft>
            </a:pPr>
            <a:r>
              <a:rPr sz="1500" b="1">
                <a:solidFill>
                  <a:srgbClr val="EEF3F8"/>
                </a:solidFill>
                <a:latin typeface="Consolas"/>
              </a:rPr>
              <a:t>C1</a:t>
            </a:r>
          </a:p>
        </p:txBody>
      </p:sp>
      <p:sp>
        <p:nvSpPr>
          <p:cNvPr id="16" name="TextBox 15"/>
          <p:cNvSpPr txBox="1"/>
          <p:nvPr/>
        </p:nvSpPr>
        <p:spPr>
          <a:xfrm>
            <a:off x="2194560" y="4754880"/>
            <a:ext cx="1645920" cy="274320"/>
          </a:xfrm>
          <a:prstGeom prst="rect">
            <a:avLst/>
          </a:prstGeom>
          <a:noFill/>
        </p:spPr>
        <p:txBody>
          <a:bodyPr wrap="square" lIns="0" rIns="0" tIns="0" bIns="0" anchor="t">
            <a:spAutoFit/>
          </a:bodyPr>
          <a:lstStyle/>
          <a:p>
            <a:pPr algn="l">
              <a:lnSpc>
                <a:spcPct val="110000"/>
              </a:lnSpc>
              <a:spcAft>
                <a:spcPts val="0"/>
              </a:spcAft>
            </a:pPr>
            <a:r>
              <a:rPr sz="1500" b="0">
                <a:solidFill>
                  <a:srgbClr val="B3C0CF"/>
                </a:solidFill>
                <a:latin typeface="Consolas"/>
              </a:rPr>
              <a:t>+45°</a:t>
            </a:r>
          </a:p>
        </p:txBody>
      </p:sp>
      <p:sp>
        <p:nvSpPr>
          <p:cNvPr id="17" name="TextBox 16"/>
          <p:cNvSpPr txBox="1"/>
          <p:nvPr/>
        </p:nvSpPr>
        <p:spPr>
          <a:xfrm>
            <a:off x="777240" y="5084064"/>
            <a:ext cx="1280160" cy="274320"/>
          </a:xfrm>
          <a:prstGeom prst="rect">
            <a:avLst/>
          </a:prstGeom>
          <a:noFill/>
        </p:spPr>
        <p:txBody>
          <a:bodyPr wrap="square" lIns="0" rIns="0" tIns="0" bIns="0" anchor="t">
            <a:spAutoFit/>
          </a:bodyPr>
          <a:lstStyle/>
          <a:p>
            <a:pPr algn="l">
              <a:lnSpc>
                <a:spcPct val="110000"/>
              </a:lnSpc>
              <a:spcAft>
                <a:spcPts val="0"/>
              </a:spcAft>
            </a:pPr>
            <a:r>
              <a:rPr sz="1500" b="1">
                <a:solidFill>
                  <a:srgbClr val="EEF3F8"/>
                </a:solidFill>
                <a:latin typeface="Consolas"/>
              </a:rPr>
              <a:t>C2</a:t>
            </a:r>
          </a:p>
        </p:txBody>
      </p:sp>
      <p:sp>
        <p:nvSpPr>
          <p:cNvPr id="18" name="TextBox 17"/>
          <p:cNvSpPr txBox="1"/>
          <p:nvPr/>
        </p:nvSpPr>
        <p:spPr>
          <a:xfrm>
            <a:off x="2194560" y="5084064"/>
            <a:ext cx="1645920" cy="274320"/>
          </a:xfrm>
          <a:prstGeom prst="rect">
            <a:avLst/>
          </a:prstGeom>
          <a:noFill/>
        </p:spPr>
        <p:txBody>
          <a:bodyPr wrap="square" lIns="0" rIns="0" tIns="0" bIns="0" anchor="t">
            <a:spAutoFit/>
          </a:bodyPr>
          <a:lstStyle/>
          <a:p>
            <a:pPr algn="l">
              <a:lnSpc>
                <a:spcPct val="110000"/>
              </a:lnSpc>
              <a:spcAft>
                <a:spcPts val="0"/>
              </a:spcAft>
            </a:pPr>
            <a:r>
              <a:rPr sz="1500" b="0">
                <a:solidFill>
                  <a:srgbClr val="B3C0CF"/>
                </a:solidFill>
                <a:latin typeface="Consolas"/>
              </a:rPr>
              <a:t>+135°</a:t>
            </a:r>
          </a:p>
        </p:txBody>
      </p:sp>
      <p:sp>
        <p:nvSpPr>
          <p:cNvPr id="19" name="TextBox 18"/>
          <p:cNvSpPr txBox="1"/>
          <p:nvPr/>
        </p:nvSpPr>
        <p:spPr>
          <a:xfrm>
            <a:off x="777240" y="5413248"/>
            <a:ext cx="1280160" cy="274320"/>
          </a:xfrm>
          <a:prstGeom prst="rect">
            <a:avLst/>
          </a:prstGeom>
          <a:noFill/>
        </p:spPr>
        <p:txBody>
          <a:bodyPr wrap="square" lIns="0" rIns="0" tIns="0" bIns="0" anchor="t">
            <a:spAutoFit/>
          </a:bodyPr>
          <a:lstStyle/>
          <a:p>
            <a:pPr algn="l">
              <a:lnSpc>
                <a:spcPct val="110000"/>
              </a:lnSpc>
              <a:spcAft>
                <a:spcPts val="0"/>
              </a:spcAft>
            </a:pPr>
            <a:r>
              <a:rPr sz="1500" b="1">
                <a:solidFill>
                  <a:srgbClr val="EEF3F8"/>
                </a:solidFill>
                <a:latin typeface="Consolas"/>
              </a:rPr>
              <a:t>C3</a:t>
            </a:r>
          </a:p>
        </p:txBody>
      </p:sp>
      <p:sp>
        <p:nvSpPr>
          <p:cNvPr id="20" name="TextBox 19"/>
          <p:cNvSpPr txBox="1"/>
          <p:nvPr/>
        </p:nvSpPr>
        <p:spPr>
          <a:xfrm>
            <a:off x="2194560" y="5413248"/>
            <a:ext cx="1645920" cy="274320"/>
          </a:xfrm>
          <a:prstGeom prst="rect">
            <a:avLst/>
          </a:prstGeom>
          <a:noFill/>
        </p:spPr>
        <p:txBody>
          <a:bodyPr wrap="square" lIns="0" rIns="0" tIns="0" bIns="0" anchor="t">
            <a:spAutoFit/>
          </a:bodyPr>
          <a:lstStyle/>
          <a:p>
            <a:pPr algn="l">
              <a:lnSpc>
                <a:spcPct val="110000"/>
              </a:lnSpc>
              <a:spcAft>
                <a:spcPts val="0"/>
              </a:spcAft>
            </a:pPr>
            <a:r>
              <a:rPr sz="1500" b="1">
                <a:solidFill>
                  <a:srgbClr val="FF9A3C"/>
                </a:solidFill>
                <a:latin typeface="Consolas"/>
              </a:rPr>
              <a:t>−45°</a:t>
            </a:r>
          </a:p>
        </p:txBody>
      </p:sp>
      <p:sp>
        <p:nvSpPr>
          <p:cNvPr id="21" name="TextBox 20"/>
          <p:cNvSpPr txBox="1"/>
          <p:nvPr/>
        </p:nvSpPr>
        <p:spPr>
          <a:xfrm>
            <a:off x="777240" y="5742432"/>
            <a:ext cx="1280160" cy="274320"/>
          </a:xfrm>
          <a:prstGeom prst="rect">
            <a:avLst/>
          </a:prstGeom>
          <a:noFill/>
        </p:spPr>
        <p:txBody>
          <a:bodyPr wrap="square" lIns="0" rIns="0" tIns="0" bIns="0" anchor="t">
            <a:spAutoFit/>
          </a:bodyPr>
          <a:lstStyle/>
          <a:p>
            <a:pPr algn="l">
              <a:lnSpc>
                <a:spcPct val="110000"/>
              </a:lnSpc>
              <a:spcAft>
                <a:spcPts val="0"/>
              </a:spcAft>
            </a:pPr>
            <a:r>
              <a:rPr sz="1500" b="1">
                <a:solidFill>
                  <a:srgbClr val="EEF3F8"/>
                </a:solidFill>
                <a:latin typeface="Consolas"/>
              </a:rPr>
              <a:t>C4</a:t>
            </a:r>
          </a:p>
        </p:txBody>
      </p:sp>
      <p:sp>
        <p:nvSpPr>
          <p:cNvPr id="22" name="TextBox 21"/>
          <p:cNvSpPr txBox="1"/>
          <p:nvPr/>
        </p:nvSpPr>
        <p:spPr>
          <a:xfrm>
            <a:off x="2194560" y="5742432"/>
            <a:ext cx="1645920" cy="274320"/>
          </a:xfrm>
          <a:prstGeom prst="rect">
            <a:avLst/>
          </a:prstGeom>
          <a:noFill/>
        </p:spPr>
        <p:txBody>
          <a:bodyPr wrap="square" lIns="0" rIns="0" tIns="0" bIns="0" anchor="t">
            <a:spAutoFit/>
          </a:bodyPr>
          <a:lstStyle/>
          <a:p>
            <a:pPr algn="l">
              <a:lnSpc>
                <a:spcPct val="110000"/>
              </a:lnSpc>
              <a:spcAft>
                <a:spcPts val="0"/>
              </a:spcAft>
            </a:pPr>
            <a:r>
              <a:rPr sz="1500" b="0">
                <a:solidFill>
                  <a:srgbClr val="B3C0CF"/>
                </a:solidFill>
                <a:latin typeface="Consolas"/>
              </a:rPr>
              <a:t>−135°</a:t>
            </a:r>
          </a:p>
        </p:txBody>
      </p:sp>
      <p:sp>
        <p:nvSpPr>
          <p:cNvPr id="23" name="Rectangle 22"/>
          <p:cNvSpPr/>
          <p:nvPr/>
        </p:nvSpPr>
        <p:spPr>
          <a:xfrm>
            <a:off x="5263398" y="1664208"/>
            <a:ext cx="5520922" cy="4581144"/>
          </a:xfrm>
          <a:prstGeom prst="rect">
            <a:avLst/>
          </a:prstGeom>
          <a:solidFill>
            <a:srgbClr val="263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vibration-misfire.png"/>
          <p:cNvPicPr>
            <a:picLocks noChangeAspect="1"/>
          </p:cNvPicPr>
          <p:nvPr/>
        </p:nvPicPr>
        <p:blipFill>
          <a:blip r:embed="rId3"/>
          <a:stretch>
            <a:fillRect/>
          </a:stretch>
        </p:blipFill>
        <p:spPr>
          <a:xfrm>
            <a:off x="5290830" y="1691640"/>
            <a:ext cx="5466058" cy="452628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C131C"/>
        </a:solidFill>
        <a:effectLst/>
      </p:bgPr>
    </p:bg>
    <p:spTree>
      <p:nvGrpSpPr>
        <p:cNvPr id="1" name=""/>
        <p:cNvGrpSpPr/>
        <p:nvPr/>
      </p:nvGrpSpPr>
      <p:grpSpPr/>
      <p:sp>
        <p:nvSpPr>
          <p:cNvPr id="2" name="TextBox 1"/>
          <p:cNvSpPr txBox="1"/>
          <p:nvPr/>
        </p:nvSpPr>
        <p:spPr>
          <a:xfrm>
            <a:off x="548640" y="384048"/>
            <a:ext cx="7315200" cy="274320"/>
          </a:xfrm>
          <a:prstGeom prst="rect">
            <a:avLst/>
          </a:prstGeom>
          <a:noFill/>
        </p:spPr>
        <p:txBody>
          <a:bodyPr wrap="square" lIns="0" rIns="0" tIns="0" bIns="0" anchor="t">
            <a:spAutoFit/>
          </a:bodyPr>
          <a:lstStyle/>
          <a:p>
            <a:pPr algn="l">
              <a:lnSpc>
                <a:spcPct val="110000"/>
              </a:lnSpc>
              <a:spcAft>
                <a:spcPts val="0"/>
              </a:spcAft>
            </a:pPr>
            <a:r>
              <a:rPr sz="1200" b="1">
                <a:solidFill>
                  <a:srgbClr val="35E0F0"/>
                </a:solidFill>
                <a:latin typeface="Consolas"/>
              </a:rPr>
              <a:t>09 · SENSOR FAULTS</a:t>
            </a:r>
          </a:p>
        </p:txBody>
      </p:sp>
      <p:sp>
        <p:nvSpPr>
          <p:cNvPr id="3" name="Rectangle 2"/>
          <p:cNvSpPr/>
          <p:nvPr/>
        </p:nvSpPr>
        <p:spPr>
          <a:xfrm>
            <a:off x="548640" y="6400800"/>
            <a:ext cx="11094415" cy="9144"/>
          </a:xfrm>
          <a:prstGeom prst="rect">
            <a:avLst/>
          </a:prstGeom>
          <a:solidFill>
            <a:srgbClr val="263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lnSpc>
                <a:spcPct val="110000"/>
              </a:lnSpc>
              <a:spcAft>
                <a:spcPts val="0"/>
              </a:spcAft>
            </a:pPr>
            <a:r>
              <a:rPr sz="1000" b="0">
                <a:solidFill>
                  <a:srgbClr val="7F8FA3"/>
                </a:solidFill>
                <a:latin typeface="Consolas"/>
              </a:rPr>
              <a:t>IGNISENSE  ·  TEAM REVORA</a:t>
            </a:r>
          </a:p>
        </p:txBody>
      </p:sp>
      <p:sp>
        <p:nvSpPr>
          <p:cNvPr id="5" name="TextBox 4"/>
          <p:cNvSpPr txBox="1"/>
          <p:nvPr/>
        </p:nvSpPr>
        <p:spPr>
          <a:xfrm>
            <a:off x="9814255" y="6473952"/>
            <a:ext cx="1828800" cy="228600"/>
          </a:xfrm>
          <a:prstGeom prst="rect">
            <a:avLst/>
          </a:prstGeom>
          <a:noFill/>
        </p:spPr>
        <p:txBody>
          <a:bodyPr wrap="square" lIns="0" rIns="0" tIns="0" bIns="0" anchor="t">
            <a:spAutoFit/>
          </a:bodyPr>
          <a:lstStyle/>
          <a:p>
            <a:pPr algn="r">
              <a:lnSpc>
                <a:spcPct val="110000"/>
              </a:lnSpc>
              <a:spcAft>
                <a:spcPts val="0"/>
              </a:spcAft>
            </a:pPr>
            <a:r>
              <a:rPr sz="1000" b="0">
                <a:solidFill>
                  <a:srgbClr val="7F8FA3"/>
                </a:solidFill>
                <a:latin typeface="Consolas"/>
              </a:rPr>
              <a:t>10 / 17</a:t>
            </a:r>
          </a:p>
        </p:txBody>
      </p:sp>
      <p:sp>
        <p:nvSpPr>
          <p:cNvPr id="6" name="TextBox 5"/>
          <p:cNvSpPr txBox="1"/>
          <p:nvPr/>
        </p:nvSpPr>
        <p:spPr>
          <a:xfrm>
            <a:off x="548640" y="713232"/>
            <a:ext cx="11064240" cy="914400"/>
          </a:xfrm>
          <a:prstGeom prst="rect">
            <a:avLst/>
          </a:prstGeom>
          <a:noFill/>
        </p:spPr>
        <p:txBody>
          <a:bodyPr wrap="square" lIns="0" rIns="0" tIns="0" bIns="0" anchor="t">
            <a:spAutoFit/>
          </a:bodyPr>
          <a:lstStyle/>
          <a:p>
            <a:pPr algn="l">
              <a:lnSpc>
                <a:spcPct val="100000"/>
              </a:lnSpc>
              <a:spcAft>
                <a:spcPts val="0"/>
              </a:spcAft>
            </a:pPr>
            <a:r>
              <a:rPr sz="3000" b="1">
                <a:solidFill>
                  <a:srgbClr val="EEF3F8"/>
                </a:solidFill>
                <a:latin typeface="Segoe UI"/>
              </a:rPr>
              <a:t>When a sensor lies, physics catches it</a:t>
            </a:r>
          </a:p>
        </p:txBody>
      </p:sp>
      <p:sp>
        <p:nvSpPr>
          <p:cNvPr id="7" name="TextBox 6"/>
          <p:cNvSpPr txBox="1"/>
          <p:nvPr/>
        </p:nvSpPr>
        <p:spPr>
          <a:xfrm>
            <a:off x="548640" y="2103120"/>
            <a:ext cx="3474720" cy="822960"/>
          </a:xfrm>
          <a:prstGeom prst="rect">
            <a:avLst/>
          </a:prstGeom>
          <a:noFill/>
        </p:spPr>
        <p:txBody>
          <a:bodyPr wrap="square" lIns="0" rIns="0" tIns="0" bIns="0" anchor="t">
            <a:spAutoFit/>
          </a:bodyPr>
          <a:lstStyle/>
          <a:p>
            <a:pPr algn="l">
              <a:lnSpc>
                <a:spcPct val="110000"/>
              </a:lnSpc>
              <a:spcAft>
                <a:spcPts val="0"/>
              </a:spcAft>
            </a:pPr>
            <a:r>
              <a:rPr sz="5400" b="1">
                <a:solidFill>
                  <a:srgbClr val="3DDC84"/>
                </a:solidFill>
                <a:latin typeface="Consolas"/>
              </a:rPr>
              <a:t>0.8 K/s</a:t>
            </a:r>
          </a:p>
        </p:txBody>
      </p:sp>
      <p:sp>
        <p:nvSpPr>
          <p:cNvPr id="8" name="TextBox 7"/>
          <p:cNvSpPr txBox="1"/>
          <p:nvPr/>
        </p:nvSpPr>
        <p:spPr>
          <a:xfrm>
            <a:off x="548640" y="2971800"/>
            <a:ext cx="3474720" cy="731520"/>
          </a:xfrm>
          <a:prstGeom prst="rect">
            <a:avLst/>
          </a:prstGeom>
          <a:noFill/>
        </p:spPr>
        <p:txBody>
          <a:bodyPr wrap="square" lIns="0" rIns="0" tIns="0" bIns="0" anchor="t">
            <a:spAutoFit/>
          </a:bodyPr>
          <a:lstStyle/>
          <a:p>
            <a:pPr algn="l">
              <a:lnSpc>
                <a:spcPct val="110000"/>
              </a:lnSpc>
              <a:spcAft>
                <a:spcPts val="0"/>
              </a:spcAft>
            </a:pPr>
            <a:r>
              <a:rPr sz="1500" b="0">
                <a:solidFill>
                  <a:srgbClr val="B3C0CF"/>
                </a:solidFill>
                <a:latin typeface="Segoe UI"/>
              </a:rPr>
              <a:t>the fastest coolant can possibly heat: all coolant heat at full load, no cooling</a:t>
            </a:r>
          </a:p>
        </p:txBody>
      </p:sp>
      <p:sp>
        <p:nvSpPr>
          <p:cNvPr id="9" name="TextBox 8"/>
          <p:cNvSpPr txBox="1"/>
          <p:nvPr/>
        </p:nvSpPr>
        <p:spPr>
          <a:xfrm>
            <a:off x="4343400" y="2103120"/>
            <a:ext cx="3474720" cy="822960"/>
          </a:xfrm>
          <a:prstGeom prst="rect">
            <a:avLst/>
          </a:prstGeom>
          <a:noFill/>
        </p:spPr>
        <p:txBody>
          <a:bodyPr wrap="square" lIns="0" rIns="0" tIns="0" bIns="0" anchor="t">
            <a:spAutoFit/>
          </a:bodyPr>
          <a:lstStyle/>
          <a:p>
            <a:pPr algn="l">
              <a:lnSpc>
                <a:spcPct val="110000"/>
              </a:lnSpc>
              <a:spcAft>
                <a:spcPts val="0"/>
              </a:spcAft>
            </a:pPr>
            <a:r>
              <a:rPr sz="5400" b="1">
                <a:solidFill>
                  <a:srgbClr val="FF4D5E"/>
                </a:solidFill>
                <a:latin typeface="Consolas"/>
              </a:rPr>
              <a:t>250 K/s</a:t>
            </a:r>
          </a:p>
        </p:txBody>
      </p:sp>
      <p:sp>
        <p:nvSpPr>
          <p:cNvPr id="10" name="TextBox 9"/>
          <p:cNvSpPr txBox="1"/>
          <p:nvPr/>
        </p:nvSpPr>
        <p:spPr>
          <a:xfrm>
            <a:off x="4343400" y="2971800"/>
            <a:ext cx="3474720" cy="731520"/>
          </a:xfrm>
          <a:prstGeom prst="rect">
            <a:avLst/>
          </a:prstGeom>
          <a:noFill/>
        </p:spPr>
        <p:txBody>
          <a:bodyPr wrap="square" lIns="0" rIns="0" tIns="0" bIns="0" anchor="t">
            <a:spAutoFit/>
          </a:bodyPr>
          <a:lstStyle/>
          <a:p>
            <a:pPr algn="l">
              <a:lnSpc>
                <a:spcPct val="110000"/>
              </a:lnSpc>
              <a:spcAft>
                <a:spcPts val="0"/>
              </a:spcAft>
            </a:pPr>
            <a:r>
              <a:rPr sz="1500" b="0">
                <a:solidFill>
                  <a:srgbClr val="B3C0CF"/>
                </a:solidFill>
                <a:latin typeface="Segoe UI"/>
              </a:rPr>
              <a:t>what the reading implied: +25 °C in 0.1 s</a:t>
            </a:r>
          </a:p>
        </p:txBody>
      </p:sp>
      <p:sp>
        <p:nvSpPr>
          <p:cNvPr id="11" name="TextBox 10"/>
          <p:cNvSpPr txBox="1"/>
          <p:nvPr/>
        </p:nvSpPr>
        <p:spPr>
          <a:xfrm>
            <a:off x="8138160" y="2103120"/>
            <a:ext cx="3474720" cy="822960"/>
          </a:xfrm>
          <a:prstGeom prst="rect">
            <a:avLst/>
          </a:prstGeom>
          <a:noFill/>
        </p:spPr>
        <p:txBody>
          <a:bodyPr wrap="square" lIns="0" rIns="0" tIns="0" bIns="0" anchor="t">
            <a:spAutoFit/>
          </a:bodyPr>
          <a:lstStyle/>
          <a:p>
            <a:pPr algn="l">
              <a:lnSpc>
                <a:spcPct val="110000"/>
              </a:lnSpc>
              <a:spcAft>
                <a:spcPts val="0"/>
              </a:spcAft>
            </a:pPr>
            <a:r>
              <a:rPr sz="5400" b="1">
                <a:solidFill>
                  <a:srgbClr val="FF9A3C"/>
                </a:solidFill>
                <a:latin typeface="Consolas"/>
              </a:rPr>
              <a:t>300×</a:t>
            </a:r>
          </a:p>
        </p:txBody>
      </p:sp>
      <p:sp>
        <p:nvSpPr>
          <p:cNvPr id="12" name="TextBox 11"/>
          <p:cNvSpPr txBox="1"/>
          <p:nvPr/>
        </p:nvSpPr>
        <p:spPr>
          <a:xfrm>
            <a:off x="8138160" y="2971800"/>
            <a:ext cx="3474720" cy="731520"/>
          </a:xfrm>
          <a:prstGeom prst="rect">
            <a:avLst/>
          </a:prstGeom>
          <a:noFill/>
        </p:spPr>
        <p:txBody>
          <a:bodyPr wrap="square" lIns="0" rIns="0" tIns="0" bIns="0" anchor="t">
            <a:spAutoFit/>
          </a:bodyPr>
          <a:lstStyle/>
          <a:p>
            <a:pPr algn="l">
              <a:lnSpc>
                <a:spcPct val="110000"/>
              </a:lnSpc>
              <a:spcAft>
                <a:spcPts val="0"/>
              </a:spcAft>
            </a:pPr>
            <a:r>
              <a:rPr sz="1500" b="0">
                <a:solidFill>
                  <a:srgbClr val="B3C0CF"/>
                </a:solidFill>
                <a:latin typeface="Segoe UI"/>
              </a:rPr>
              <a:t>over the physical limit, so the sensor failed, not the engine</a:t>
            </a:r>
          </a:p>
        </p:txBody>
      </p:sp>
      <p:sp>
        <p:nvSpPr>
          <p:cNvPr id="13" name="TextBox 12"/>
          <p:cNvSpPr txBox="1"/>
          <p:nvPr/>
        </p:nvSpPr>
        <p:spPr>
          <a:xfrm>
            <a:off x="548640" y="3703320"/>
            <a:ext cx="11064240" cy="457200"/>
          </a:xfrm>
          <a:prstGeom prst="rect">
            <a:avLst/>
          </a:prstGeom>
          <a:noFill/>
        </p:spPr>
        <p:txBody>
          <a:bodyPr wrap="square" lIns="0" rIns="0" tIns="0" bIns="0" anchor="t">
            <a:spAutoFit/>
          </a:bodyPr>
          <a:lstStyle/>
          <a:p>
            <a:pPr algn="l">
              <a:lnSpc>
                <a:spcPct val="110000"/>
              </a:lnSpc>
              <a:spcAft>
                <a:spcPts val="0"/>
              </a:spcAft>
            </a:pPr>
            <a:r>
              <a:rPr sz="2000" b="0">
                <a:solidFill>
                  <a:srgbClr val="B3C0CF"/>
                </a:solidFill>
                <a:latin typeface="Consolas"/>
              </a:rPr>
              <a:t>dT/dt|max = Q_cool,max / C_th = 81 500 W / 100 000 J/K ≈ 0.8 K/s</a:t>
            </a:r>
          </a:p>
        </p:txBody>
      </p:sp>
      <p:sp>
        <p:nvSpPr>
          <p:cNvPr id="14" name="Rectangle 13"/>
          <p:cNvSpPr/>
          <p:nvPr/>
        </p:nvSpPr>
        <p:spPr>
          <a:xfrm>
            <a:off x="548640" y="4526280"/>
            <a:ext cx="11064240" cy="1417320"/>
          </a:xfrm>
          <a:prstGeom prst="rect">
            <a:avLst/>
          </a:prstGeom>
          <a:solidFill>
            <a:srgbClr val="121B26"/>
          </a:solidFill>
          <a:ln w="19050">
            <a:solidFill>
              <a:srgbClr val="35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690872"/>
            <a:ext cx="10424160" cy="320040"/>
          </a:xfrm>
          <a:prstGeom prst="rect">
            <a:avLst/>
          </a:prstGeom>
          <a:noFill/>
        </p:spPr>
        <p:txBody>
          <a:bodyPr wrap="square" lIns="0" rIns="0" tIns="0" bIns="0" anchor="t">
            <a:spAutoFit/>
          </a:bodyPr>
          <a:lstStyle/>
          <a:p>
            <a:pPr algn="l">
              <a:lnSpc>
                <a:spcPct val="110000"/>
              </a:lnSpc>
              <a:spcAft>
                <a:spcPts val="0"/>
              </a:spcAft>
            </a:pPr>
            <a:r>
              <a:rPr sz="1200" b="1">
                <a:solidFill>
                  <a:srgbClr val="35E0F0"/>
                </a:solidFill>
                <a:latin typeface="Consolas"/>
              </a:rPr>
              <a:t>THE VERDICT ON SCREEN</a:t>
            </a:r>
          </a:p>
        </p:txBody>
      </p:sp>
      <p:sp>
        <p:nvSpPr>
          <p:cNvPr id="16" name="TextBox 15"/>
          <p:cNvSpPr txBox="1"/>
          <p:nvPr/>
        </p:nvSpPr>
        <p:spPr>
          <a:xfrm>
            <a:off x="868680" y="5074920"/>
            <a:ext cx="10424160" cy="822960"/>
          </a:xfrm>
          <a:prstGeom prst="rect">
            <a:avLst/>
          </a:prstGeom>
          <a:noFill/>
        </p:spPr>
        <p:txBody>
          <a:bodyPr wrap="square" lIns="0" rIns="0" tIns="0" bIns="0" anchor="t">
            <a:spAutoFit/>
          </a:bodyPr>
          <a:lstStyle/>
          <a:p>
            <a:pPr algn="l">
              <a:lnSpc>
                <a:spcPct val="110000"/>
              </a:lnSpc>
              <a:spcAft>
                <a:spcPts val="0"/>
              </a:spcAft>
            </a:pPr>
            <a:r>
              <a:rPr sz="1900" b="1">
                <a:solidFill>
                  <a:srgbClr val="EEF3F8"/>
                </a:solidFill>
                <a:latin typeface="Segoe UI"/>
              </a:rPr>
              <a:t>Coolant sensor fault</a:t>
            </a:r>
            <a:r>
              <a:rPr sz="1900" b="0">
                <a:solidFill>
                  <a:srgbClr val="B3C0CF"/>
                </a:solidFill>
                <a:latin typeface="Segoe UI"/>
              </a:rPr>
              <a:t>. The cooling system is not blamed: the other sensors and the Twin agree with each other, and the bad readings are left out of the diagnosis.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C131C"/>
        </a:solidFill>
        <a:effectLst/>
      </p:bgPr>
    </p:bg>
    <p:spTree>
      <p:nvGrpSpPr>
        <p:cNvPr id="1" name=""/>
        <p:cNvGrpSpPr/>
        <p:nvPr/>
      </p:nvGrpSpPr>
      <p:grpSpPr/>
      <p:sp>
        <p:nvSpPr>
          <p:cNvPr id="2" name="TextBox 1"/>
          <p:cNvSpPr txBox="1"/>
          <p:nvPr/>
        </p:nvSpPr>
        <p:spPr>
          <a:xfrm>
            <a:off x="548640" y="384048"/>
            <a:ext cx="7315200" cy="274320"/>
          </a:xfrm>
          <a:prstGeom prst="rect">
            <a:avLst/>
          </a:prstGeom>
          <a:noFill/>
        </p:spPr>
        <p:txBody>
          <a:bodyPr wrap="square" lIns="0" rIns="0" tIns="0" bIns="0" anchor="t">
            <a:spAutoFit/>
          </a:bodyPr>
          <a:lstStyle/>
          <a:p>
            <a:pPr algn="l">
              <a:lnSpc>
                <a:spcPct val="110000"/>
              </a:lnSpc>
              <a:spcAft>
                <a:spcPts val="0"/>
              </a:spcAft>
            </a:pPr>
            <a:r>
              <a:rPr sz="1200" b="1">
                <a:solidFill>
                  <a:srgbClr val="35E0F0"/>
                </a:solidFill>
                <a:latin typeface="Consolas"/>
              </a:rPr>
              <a:t>10 · SHOW THE MATH</a:t>
            </a:r>
          </a:p>
        </p:txBody>
      </p:sp>
      <p:sp>
        <p:nvSpPr>
          <p:cNvPr id="3" name="Rectangle 2"/>
          <p:cNvSpPr/>
          <p:nvPr/>
        </p:nvSpPr>
        <p:spPr>
          <a:xfrm>
            <a:off x="548640" y="6400800"/>
            <a:ext cx="11094415" cy="9144"/>
          </a:xfrm>
          <a:prstGeom prst="rect">
            <a:avLst/>
          </a:prstGeom>
          <a:solidFill>
            <a:srgbClr val="263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lnSpc>
                <a:spcPct val="110000"/>
              </a:lnSpc>
              <a:spcAft>
                <a:spcPts val="0"/>
              </a:spcAft>
            </a:pPr>
            <a:r>
              <a:rPr sz="1000" b="0">
                <a:solidFill>
                  <a:srgbClr val="7F8FA3"/>
                </a:solidFill>
                <a:latin typeface="Consolas"/>
              </a:rPr>
              <a:t>IGNISENSE  ·  TEAM REVORA</a:t>
            </a:r>
          </a:p>
        </p:txBody>
      </p:sp>
      <p:sp>
        <p:nvSpPr>
          <p:cNvPr id="5" name="TextBox 4"/>
          <p:cNvSpPr txBox="1"/>
          <p:nvPr/>
        </p:nvSpPr>
        <p:spPr>
          <a:xfrm>
            <a:off x="9814255" y="6473952"/>
            <a:ext cx="1828800" cy="228600"/>
          </a:xfrm>
          <a:prstGeom prst="rect">
            <a:avLst/>
          </a:prstGeom>
          <a:noFill/>
        </p:spPr>
        <p:txBody>
          <a:bodyPr wrap="square" lIns="0" rIns="0" tIns="0" bIns="0" anchor="t">
            <a:spAutoFit/>
          </a:bodyPr>
          <a:lstStyle/>
          <a:p>
            <a:pPr algn="r">
              <a:lnSpc>
                <a:spcPct val="110000"/>
              </a:lnSpc>
              <a:spcAft>
                <a:spcPts val="0"/>
              </a:spcAft>
            </a:pPr>
            <a:r>
              <a:rPr sz="1000" b="0">
                <a:solidFill>
                  <a:srgbClr val="7F8FA3"/>
                </a:solidFill>
                <a:latin typeface="Consolas"/>
              </a:rPr>
              <a:t>11 / 17</a:t>
            </a:r>
          </a:p>
        </p:txBody>
      </p:sp>
      <p:sp>
        <p:nvSpPr>
          <p:cNvPr id="6" name="TextBox 5"/>
          <p:cNvSpPr txBox="1"/>
          <p:nvPr/>
        </p:nvSpPr>
        <p:spPr>
          <a:xfrm>
            <a:off x="548640" y="713232"/>
            <a:ext cx="11064240" cy="914400"/>
          </a:xfrm>
          <a:prstGeom prst="rect">
            <a:avLst/>
          </a:prstGeom>
          <a:noFill/>
        </p:spPr>
        <p:txBody>
          <a:bodyPr wrap="square" lIns="0" rIns="0" tIns="0" bIns="0" anchor="t">
            <a:spAutoFit/>
          </a:bodyPr>
          <a:lstStyle/>
          <a:p>
            <a:pPr algn="l">
              <a:lnSpc>
                <a:spcPct val="100000"/>
              </a:lnSpc>
              <a:spcAft>
                <a:spcPts val="0"/>
              </a:spcAft>
            </a:pPr>
            <a:r>
              <a:rPr sz="3000" b="1">
                <a:solidFill>
                  <a:srgbClr val="EEF3F8"/>
                </a:solidFill>
                <a:latin typeface="Segoe UI"/>
              </a:rPr>
              <a:t>Click any number. See the equation.</a:t>
            </a:r>
          </a:p>
        </p:txBody>
      </p:sp>
      <p:sp>
        <p:nvSpPr>
          <p:cNvPr id="7" name="Rectangle 6"/>
          <p:cNvSpPr/>
          <p:nvPr/>
        </p:nvSpPr>
        <p:spPr>
          <a:xfrm>
            <a:off x="548640" y="1865376"/>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783080"/>
            <a:ext cx="3291840" cy="544068"/>
          </a:xfrm>
          <a:prstGeom prst="rect">
            <a:avLst/>
          </a:prstGeom>
          <a:noFill/>
        </p:spPr>
        <p:txBody>
          <a:bodyPr wrap="square" lIns="0" rIns="0" tIns="0" bIns="0" anchor="t">
            <a:spAutoFit/>
          </a:bodyPr>
          <a:lstStyle/>
          <a:p>
            <a:pPr algn="l">
              <a:lnSpc>
                <a:spcPct val="105000"/>
              </a:lnSpc>
              <a:spcAft>
                <a:spcPts val="0"/>
              </a:spcAft>
            </a:pPr>
            <a:r>
              <a:rPr sz="1700" b="0">
                <a:solidFill>
                  <a:srgbClr val="B3C0CF"/>
                </a:solidFill>
                <a:latin typeface="Segoe UI"/>
              </a:rPr>
              <a:t>28 registered equations, each with symbols and units.</a:t>
            </a:r>
          </a:p>
        </p:txBody>
      </p:sp>
      <p:sp>
        <p:nvSpPr>
          <p:cNvPr id="9" name="Rectangle 8"/>
          <p:cNvSpPr/>
          <p:nvPr/>
        </p:nvSpPr>
        <p:spPr>
          <a:xfrm>
            <a:off x="548640" y="2561844"/>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479548"/>
            <a:ext cx="3291840" cy="544068"/>
          </a:xfrm>
          <a:prstGeom prst="rect">
            <a:avLst/>
          </a:prstGeom>
          <a:noFill/>
        </p:spPr>
        <p:txBody>
          <a:bodyPr wrap="square" lIns="0" rIns="0" tIns="0" bIns="0" anchor="t">
            <a:spAutoFit/>
          </a:bodyPr>
          <a:lstStyle/>
          <a:p>
            <a:pPr algn="l">
              <a:lnSpc>
                <a:spcPct val="105000"/>
              </a:lnSpc>
              <a:spcAft>
                <a:spcPts val="0"/>
              </a:spcAft>
            </a:pPr>
            <a:r>
              <a:rPr sz="1700" b="0">
                <a:solidFill>
                  <a:srgbClr val="B3C0CF"/>
                </a:solidFill>
                <a:latin typeface="Segoe UI"/>
              </a:rPr>
              <a:t>Live numbers substituted into the LaTeX.</a:t>
            </a:r>
          </a:p>
        </p:txBody>
      </p:sp>
      <p:sp>
        <p:nvSpPr>
          <p:cNvPr id="11" name="Rectangle 10"/>
          <p:cNvSpPr/>
          <p:nvPr/>
        </p:nvSpPr>
        <p:spPr>
          <a:xfrm>
            <a:off x="548640" y="3258312"/>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3176016"/>
            <a:ext cx="3291840" cy="544068"/>
          </a:xfrm>
          <a:prstGeom prst="rect">
            <a:avLst/>
          </a:prstGeom>
          <a:noFill/>
        </p:spPr>
        <p:txBody>
          <a:bodyPr wrap="square" lIns="0" rIns="0" tIns="0" bIns="0" anchor="t">
            <a:spAutoFit/>
          </a:bodyPr>
          <a:lstStyle/>
          <a:p>
            <a:pPr algn="l">
              <a:lnSpc>
                <a:spcPct val="105000"/>
              </a:lnSpc>
              <a:spcAft>
                <a:spcPts val="0"/>
              </a:spcAft>
            </a:pPr>
            <a:r>
              <a:rPr sz="1700" b="0">
                <a:solidFill>
                  <a:srgbClr val="B3C0CF"/>
                </a:solidFill>
                <a:latin typeface="Segoe UI"/>
              </a:rPr>
              <a:t>A check table proves it: </a:t>
            </a:r>
            <a:r>
              <a:rPr sz="1700" b="1">
                <a:solidFill>
                  <a:srgbClr val="3DDC84"/>
                </a:solidFill>
                <a:latin typeface="Consolas"/>
              </a:rPr>
              <a:t>✓ EQUAL</a:t>
            </a:r>
            <a:r>
              <a:rPr sz="1700" b="0">
                <a:solidFill>
                  <a:srgbClr val="B3C0CF"/>
                </a:solidFill>
                <a:latin typeface="Segoe UI"/>
              </a:rPr>
              <a:t> to the gauge.</a:t>
            </a:r>
          </a:p>
        </p:txBody>
      </p:sp>
      <p:sp>
        <p:nvSpPr>
          <p:cNvPr id="13" name="Rectangle 12"/>
          <p:cNvSpPr/>
          <p:nvPr/>
        </p:nvSpPr>
        <p:spPr>
          <a:xfrm>
            <a:off x="548640" y="3954780"/>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3872484"/>
            <a:ext cx="3291840" cy="272034"/>
          </a:xfrm>
          <a:prstGeom prst="rect">
            <a:avLst/>
          </a:prstGeom>
          <a:noFill/>
        </p:spPr>
        <p:txBody>
          <a:bodyPr wrap="square" lIns="0" rIns="0" tIns="0" bIns="0" anchor="t">
            <a:spAutoFit/>
          </a:bodyPr>
          <a:lstStyle/>
          <a:p>
            <a:pPr algn="l">
              <a:lnSpc>
                <a:spcPct val="105000"/>
              </a:lnSpc>
              <a:spcAft>
                <a:spcPts val="0"/>
              </a:spcAft>
            </a:pPr>
            <a:r>
              <a:rPr sz="1700" b="0">
                <a:solidFill>
                  <a:srgbClr val="B3C0CF"/>
                </a:solidFill>
                <a:latin typeface="Segoe UI"/>
              </a:rPr>
              <a:t>Tested in six engine states.</a:t>
            </a:r>
          </a:p>
        </p:txBody>
      </p:sp>
      <p:sp>
        <p:nvSpPr>
          <p:cNvPr id="15" name="Rectangle 14"/>
          <p:cNvSpPr/>
          <p:nvPr/>
        </p:nvSpPr>
        <p:spPr>
          <a:xfrm>
            <a:off x="4771453" y="1664208"/>
            <a:ext cx="6504813" cy="4581144"/>
          </a:xfrm>
          <a:prstGeom prst="rect">
            <a:avLst/>
          </a:prstGeom>
          <a:solidFill>
            <a:srgbClr val="263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math-drawer.png"/>
          <p:cNvPicPr>
            <a:picLocks noChangeAspect="1"/>
          </p:cNvPicPr>
          <p:nvPr/>
        </p:nvPicPr>
        <p:blipFill>
          <a:blip r:embed="rId3"/>
          <a:stretch>
            <a:fillRect/>
          </a:stretch>
        </p:blipFill>
        <p:spPr>
          <a:xfrm>
            <a:off x="4798885" y="1691640"/>
            <a:ext cx="6449949" cy="452628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C131C"/>
        </a:solidFill>
        <a:effectLst/>
      </p:bgPr>
    </p:bg>
    <p:spTree>
      <p:nvGrpSpPr>
        <p:cNvPr id="1" name=""/>
        <p:cNvGrpSpPr/>
        <p:nvPr/>
      </p:nvGrpSpPr>
      <p:grpSpPr/>
      <p:sp>
        <p:nvSpPr>
          <p:cNvPr id="2" name="TextBox 1"/>
          <p:cNvSpPr txBox="1"/>
          <p:nvPr/>
        </p:nvSpPr>
        <p:spPr>
          <a:xfrm>
            <a:off x="548640" y="384048"/>
            <a:ext cx="7315200" cy="274320"/>
          </a:xfrm>
          <a:prstGeom prst="rect">
            <a:avLst/>
          </a:prstGeom>
          <a:noFill/>
        </p:spPr>
        <p:txBody>
          <a:bodyPr wrap="square" lIns="0" rIns="0" tIns="0" bIns="0" anchor="t">
            <a:spAutoFit/>
          </a:bodyPr>
          <a:lstStyle/>
          <a:p>
            <a:pPr algn="l">
              <a:lnSpc>
                <a:spcPct val="110000"/>
              </a:lnSpc>
              <a:spcAft>
                <a:spcPts val="0"/>
              </a:spcAft>
            </a:pPr>
            <a:r>
              <a:rPr sz="1200" b="1">
                <a:solidFill>
                  <a:srgbClr val="35E0F0"/>
                </a:solidFill>
                <a:latin typeface="Consolas"/>
              </a:rPr>
              <a:t>11 · BLIND CHALLENGE</a:t>
            </a:r>
          </a:p>
        </p:txBody>
      </p:sp>
      <p:sp>
        <p:nvSpPr>
          <p:cNvPr id="3" name="Rectangle 2"/>
          <p:cNvSpPr/>
          <p:nvPr/>
        </p:nvSpPr>
        <p:spPr>
          <a:xfrm>
            <a:off x="548640" y="6400800"/>
            <a:ext cx="11094415" cy="9144"/>
          </a:xfrm>
          <a:prstGeom prst="rect">
            <a:avLst/>
          </a:prstGeom>
          <a:solidFill>
            <a:srgbClr val="263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lnSpc>
                <a:spcPct val="110000"/>
              </a:lnSpc>
              <a:spcAft>
                <a:spcPts val="0"/>
              </a:spcAft>
            </a:pPr>
            <a:r>
              <a:rPr sz="1000" b="0">
                <a:solidFill>
                  <a:srgbClr val="7F8FA3"/>
                </a:solidFill>
                <a:latin typeface="Consolas"/>
              </a:rPr>
              <a:t>IGNISENSE  ·  TEAM REVORA</a:t>
            </a:r>
          </a:p>
        </p:txBody>
      </p:sp>
      <p:sp>
        <p:nvSpPr>
          <p:cNvPr id="5" name="TextBox 4"/>
          <p:cNvSpPr txBox="1"/>
          <p:nvPr/>
        </p:nvSpPr>
        <p:spPr>
          <a:xfrm>
            <a:off x="9814255" y="6473952"/>
            <a:ext cx="1828800" cy="228600"/>
          </a:xfrm>
          <a:prstGeom prst="rect">
            <a:avLst/>
          </a:prstGeom>
          <a:noFill/>
        </p:spPr>
        <p:txBody>
          <a:bodyPr wrap="square" lIns="0" rIns="0" tIns="0" bIns="0" anchor="t">
            <a:spAutoFit/>
          </a:bodyPr>
          <a:lstStyle/>
          <a:p>
            <a:pPr algn="r">
              <a:lnSpc>
                <a:spcPct val="110000"/>
              </a:lnSpc>
              <a:spcAft>
                <a:spcPts val="0"/>
              </a:spcAft>
            </a:pPr>
            <a:r>
              <a:rPr sz="1000" b="0">
                <a:solidFill>
                  <a:srgbClr val="7F8FA3"/>
                </a:solidFill>
                <a:latin typeface="Consolas"/>
              </a:rPr>
              <a:t>12 / 17</a:t>
            </a:r>
          </a:p>
        </p:txBody>
      </p:sp>
      <p:sp>
        <p:nvSpPr>
          <p:cNvPr id="6" name="TextBox 5"/>
          <p:cNvSpPr txBox="1"/>
          <p:nvPr/>
        </p:nvSpPr>
        <p:spPr>
          <a:xfrm>
            <a:off x="548640" y="713232"/>
            <a:ext cx="11064240" cy="914400"/>
          </a:xfrm>
          <a:prstGeom prst="rect">
            <a:avLst/>
          </a:prstGeom>
          <a:noFill/>
        </p:spPr>
        <p:txBody>
          <a:bodyPr wrap="square" lIns="0" rIns="0" tIns="0" bIns="0" anchor="t">
            <a:spAutoFit/>
          </a:bodyPr>
          <a:lstStyle/>
          <a:p>
            <a:pPr algn="l">
              <a:lnSpc>
                <a:spcPct val="100000"/>
              </a:lnSpc>
              <a:spcAft>
                <a:spcPts val="0"/>
              </a:spcAft>
            </a:pPr>
            <a:r>
              <a:rPr sz="3000" b="1">
                <a:solidFill>
                  <a:srgbClr val="EEF3F8"/>
                </a:solidFill>
                <a:latin typeface="Segoe UI"/>
              </a:rPr>
              <a:t>Don't trust us. Pick a card.</a:t>
            </a:r>
          </a:p>
        </p:txBody>
      </p:sp>
      <p:sp>
        <p:nvSpPr>
          <p:cNvPr id="7" name="Rectangle 6"/>
          <p:cNvSpPr/>
          <p:nvPr/>
        </p:nvSpPr>
        <p:spPr>
          <a:xfrm>
            <a:off x="548640" y="1865376"/>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783080"/>
            <a:ext cx="3291840" cy="544068"/>
          </a:xfrm>
          <a:prstGeom prst="rect">
            <a:avLst/>
          </a:prstGeom>
          <a:noFill/>
        </p:spPr>
        <p:txBody>
          <a:bodyPr wrap="square" lIns="0" rIns="0" tIns="0" bIns="0" anchor="t">
            <a:spAutoFit/>
          </a:bodyPr>
          <a:lstStyle/>
          <a:p>
            <a:pPr algn="l">
              <a:lnSpc>
                <a:spcPct val="105000"/>
              </a:lnSpc>
              <a:spcAft>
                <a:spcPts val="0"/>
              </a:spcAft>
            </a:pPr>
            <a:r>
              <a:rPr sz="1700" b="0">
                <a:solidFill>
                  <a:srgbClr val="B3C0CF"/>
                </a:solidFill>
                <a:latin typeface="Segoe UI"/>
              </a:rPr>
              <a:t>Nine sealed fault cards, shuffled inside the simulation.</a:t>
            </a:r>
          </a:p>
        </p:txBody>
      </p:sp>
      <p:sp>
        <p:nvSpPr>
          <p:cNvPr id="9" name="Rectangle 8"/>
          <p:cNvSpPr/>
          <p:nvPr/>
        </p:nvSpPr>
        <p:spPr>
          <a:xfrm>
            <a:off x="548640" y="2561844"/>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479548"/>
            <a:ext cx="3291840" cy="544068"/>
          </a:xfrm>
          <a:prstGeom prst="rect">
            <a:avLst/>
          </a:prstGeom>
          <a:noFill/>
        </p:spPr>
        <p:txBody>
          <a:bodyPr wrap="square" lIns="0" rIns="0" tIns="0" bIns="0" anchor="t">
            <a:spAutoFit/>
          </a:bodyPr>
          <a:lstStyle/>
          <a:p>
            <a:pPr algn="l">
              <a:lnSpc>
                <a:spcPct val="105000"/>
              </a:lnSpc>
              <a:spcAft>
                <a:spcPts val="0"/>
              </a:spcAft>
            </a:pPr>
            <a:r>
              <a:rPr sz="1700" b="0">
                <a:solidFill>
                  <a:srgbClr val="B3C0CF"/>
                </a:solidFill>
                <a:latin typeface="Segoe UI"/>
              </a:rPr>
              <a:t>The page never sees what is on the card.</a:t>
            </a:r>
          </a:p>
        </p:txBody>
      </p:sp>
      <p:sp>
        <p:nvSpPr>
          <p:cNvPr id="11" name="Rectangle 10"/>
          <p:cNvSpPr/>
          <p:nvPr/>
        </p:nvSpPr>
        <p:spPr>
          <a:xfrm>
            <a:off x="548640" y="3258312"/>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3176016"/>
            <a:ext cx="3291840" cy="544068"/>
          </a:xfrm>
          <a:prstGeom prst="rect">
            <a:avLst/>
          </a:prstGeom>
          <a:noFill/>
        </p:spPr>
        <p:txBody>
          <a:bodyPr wrap="square" lIns="0" rIns="0" tIns="0" bIns="0" anchor="t">
            <a:spAutoFit/>
          </a:bodyPr>
          <a:lstStyle/>
          <a:p>
            <a:pPr algn="l">
              <a:lnSpc>
                <a:spcPct val="105000"/>
              </a:lnSpc>
              <a:spcAft>
                <a:spcPts val="0"/>
              </a:spcAft>
            </a:pPr>
            <a:r>
              <a:rPr sz="1700" b="0">
                <a:solidFill>
                  <a:srgbClr val="B3C0CF"/>
                </a:solidFill>
                <a:latin typeface="Segoe UI"/>
              </a:rPr>
              <a:t>The monitor names the fault from sensors alone.</a:t>
            </a:r>
          </a:p>
        </p:txBody>
      </p:sp>
      <p:sp>
        <p:nvSpPr>
          <p:cNvPr id="13" name="Rectangle 12"/>
          <p:cNvSpPr/>
          <p:nvPr/>
        </p:nvSpPr>
        <p:spPr>
          <a:xfrm>
            <a:off x="548640" y="3954780"/>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3872484"/>
            <a:ext cx="3291840" cy="272034"/>
          </a:xfrm>
          <a:prstGeom prst="rect">
            <a:avLst/>
          </a:prstGeom>
          <a:noFill/>
        </p:spPr>
        <p:txBody>
          <a:bodyPr wrap="square" lIns="0" rIns="0" tIns="0" bIns="0" anchor="t">
            <a:spAutoFit/>
          </a:bodyPr>
          <a:lstStyle/>
          <a:p>
            <a:pPr algn="l">
              <a:lnSpc>
                <a:spcPct val="105000"/>
              </a:lnSpc>
              <a:spcAft>
                <a:spcPts val="0"/>
              </a:spcAft>
            </a:pPr>
            <a:r>
              <a:rPr sz="1700" b="0">
                <a:solidFill>
                  <a:srgbClr val="B3C0CF"/>
                </a:solidFill>
                <a:latin typeface="Segoe UI"/>
              </a:rPr>
              <a:t>Reveal → </a:t>
            </a:r>
            <a:r>
              <a:rPr sz="1700" b="1">
                <a:solidFill>
                  <a:srgbClr val="3DDC84"/>
                </a:solidFill>
                <a:latin typeface="Consolas"/>
              </a:rPr>
              <a:t>✓ CORRECT</a:t>
            </a:r>
            <a:r>
              <a:rPr sz="1700" b="0">
                <a:solidFill>
                  <a:srgbClr val="B3C0CF"/>
                </a:solidFill>
                <a:latin typeface="Segoe UI"/>
              </a:rPr>
              <a:t> or not.</a:t>
            </a:r>
          </a:p>
        </p:txBody>
      </p:sp>
      <p:sp>
        <p:nvSpPr>
          <p:cNvPr id="15" name="Rectangle 14"/>
          <p:cNvSpPr/>
          <p:nvPr/>
        </p:nvSpPr>
        <p:spPr>
          <a:xfrm>
            <a:off x="4315968" y="2455164"/>
            <a:ext cx="7415784" cy="2999232"/>
          </a:xfrm>
          <a:prstGeom prst="rect">
            <a:avLst/>
          </a:prstGeom>
          <a:solidFill>
            <a:srgbClr val="263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blind.png"/>
          <p:cNvPicPr>
            <a:picLocks noChangeAspect="1"/>
          </p:cNvPicPr>
          <p:nvPr/>
        </p:nvPicPr>
        <p:blipFill>
          <a:blip r:embed="rId3"/>
          <a:stretch>
            <a:fillRect/>
          </a:stretch>
        </p:blipFill>
        <p:spPr>
          <a:xfrm>
            <a:off x="4343400" y="2482596"/>
            <a:ext cx="7360920" cy="2944368"/>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C131C"/>
        </a:solidFill>
        <a:effectLst/>
      </p:bgPr>
    </p:bg>
    <p:spTree>
      <p:nvGrpSpPr>
        <p:cNvPr id="1" name=""/>
        <p:cNvGrpSpPr/>
        <p:nvPr/>
      </p:nvGrpSpPr>
      <p:grpSpPr/>
      <p:sp>
        <p:nvSpPr>
          <p:cNvPr id="2" name="TextBox 1"/>
          <p:cNvSpPr txBox="1"/>
          <p:nvPr/>
        </p:nvSpPr>
        <p:spPr>
          <a:xfrm>
            <a:off x="548640" y="384048"/>
            <a:ext cx="7315200" cy="274320"/>
          </a:xfrm>
          <a:prstGeom prst="rect">
            <a:avLst/>
          </a:prstGeom>
          <a:noFill/>
        </p:spPr>
        <p:txBody>
          <a:bodyPr wrap="square" lIns="0" rIns="0" tIns="0" bIns="0" anchor="t">
            <a:spAutoFit/>
          </a:bodyPr>
          <a:lstStyle/>
          <a:p>
            <a:pPr algn="l">
              <a:lnSpc>
                <a:spcPct val="110000"/>
              </a:lnSpc>
              <a:spcAft>
                <a:spcPts val="0"/>
              </a:spcAft>
            </a:pPr>
            <a:r>
              <a:rPr sz="1200" b="1">
                <a:solidFill>
                  <a:srgbClr val="35E0F0"/>
                </a:solidFill>
                <a:latin typeface="Consolas"/>
              </a:rPr>
              <a:t>12 · HOW LONG IS LEFT?</a:t>
            </a:r>
          </a:p>
        </p:txBody>
      </p:sp>
      <p:sp>
        <p:nvSpPr>
          <p:cNvPr id="3" name="Rectangle 2"/>
          <p:cNvSpPr/>
          <p:nvPr/>
        </p:nvSpPr>
        <p:spPr>
          <a:xfrm>
            <a:off x="548640" y="6400800"/>
            <a:ext cx="11094415" cy="9144"/>
          </a:xfrm>
          <a:prstGeom prst="rect">
            <a:avLst/>
          </a:prstGeom>
          <a:solidFill>
            <a:srgbClr val="263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lnSpc>
                <a:spcPct val="110000"/>
              </a:lnSpc>
              <a:spcAft>
                <a:spcPts val="0"/>
              </a:spcAft>
            </a:pPr>
            <a:r>
              <a:rPr sz="1000" b="0">
                <a:solidFill>
                  <a:srgbClr val="7F8FA3"/>
                </a:solidFill>
                <a:latin typeface="Consolas"/>
              </a:rPr>
              <a:t>IGNISENSE  ·  TEAM REVORA</a:t>
            </a:r>
          </a:p>
        </p:txBody>
      </p:sp>
      <p:sp>
        <p:nvSpPr>
          <p:cNvPr id="5" name="TextBox 4"/>
          <p:cNvSpPr txBox="1"/>
          <p:nvPr/>
        </p:nvSpPr>
        <p:spPr>
          <a:xfrm>
            <a:off x="9814255" y="6473952"/>
            <a:ext cx="1828800" cy="228600"/>
          </a:xfrm>
          <a:prstGeom prst="rect">
            <a:avLst/>
          </a:prstGeom>
          <a:noFill/>
        </p:spPr>
        <p:txBody>
          <a:bodyPr wrap="square" lIns="0" rIns="0" tIns="0" bIns="0" anchor="t">
            <a:spAutoFit/>
          </a:bodyPr>
          <a:lstStyle/>
          <a:p>
            <a:pPr algn="r">
              <a:lnSpc>
                <a:spcPct val="110000"/>
              </a:lnSpc>
              <a:spcAft>
                <a:spcPts val="0"/>
              </a:spcAft>
            </a:pPr>
            <a:r>
              <a:rPr sz="1000" b="0">
                <a:solidFill>
                  <a:srgbClr val="7F8FA3"/>
                </a:solidFill>
                <a:latin typeface="Consolas"/>
              </a:rPr>
              <a:t>13 / 17</a:t>
            </a:r>
          </a:p>
        </p:txBody>
      </p:sp>
      <p:sp>
        <p:nvSpPr>
          <p:cNvPr id="6" name="TextBox 5"/>
          <p:cNvSpPr txBox="1"/>
          <p:nvPr/>
        </p:nvSpPr>
        <p:spPr>
          <a:xfrm>
            <a:off x="548640" y="713232"/>
            <a:ext cx="11064240" cy="914400"/>
          </a:xfrm>
          <a:prstGeom prst="rect">
            <a:avLst/>
          </a:prstGeom>
          <a:noFill/>
        </p:spPr>
        <p:txBody>
          <a:bodyPr wrap="square" lIns="0" rIns="0" tIns="0" bIns="0" anchor="t">
            <a:spAutoFit/>
          </a:bodyPr>
          <a:lstStyle/>
          <a:p>
            <a:pPr algn="l">
              <a:lnSpc>
                <a:spcPct val="100000"/>
              </a:lnSpc>
              <a:spcAft>
                <a:spcPts val="0"/>
              </a:spcAft>
            </a:pPr>
            <a:r>
              <a:rPr sz="3000" b="1">
                <a:solidFill>
                  <a:srgbClr val="EEF3F8"/>
                </a:solidFill>
                <a:latin typeface="Segoe UI"/>
              </a:rPr>
              <a:t>Remaining life, with an honest band</a:t>
            </a:r>
          </a:p>
        </p:txBody>
      </p:sp>
      <p:sp>
        <p:nvSpPr>
          <p:cNvPr id="7" name="Rectangle 6"/>
          <p:cNvSpPr/>
          <p:nvPr/>
        </p:nvSpPr>
        <p:spPr>
          <a:xfrm>
            <a:off x="548640" y="1865376"/>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783080"/>
            <a:ext cx="3291840" cy="544068"/>
          </a:xfrm>
          <a:prstGeom prst="rect">
            <a:avLst/>
          </a:prstGeom>
          <a:noFill/>
        </p:spPr>
        <p:txBody>
          <a:bodyPr wrap="square" lIns="0" rIns="0" tIns="0" bIns="0" anchor="t">
            <a:spAutoFit/>
          </a:bodyPr>
          <a:lstStyle/>
          <a:p>
            <a:pPr algn="l">
              <a:lnSpc>
                <a:spcPct val="105000"/>
              </a:lnSpc>
              <a:spcAft>
                <a:spcPts val="0"/>
              </a:spcAft>
            </a:pPr>
            <a:r>
              <a:rPr sz="1700" b="0">
                <a:solidFill>
                  <a:srgbClr val="B3C0CF"/>
                </a:solidFill>
                <a:latin typeface="Segoe UI"/>
              </a:rPr>
              <a:t>A trend line with a ±2 standard-error band.</a:t>
            </a:r>
          </a:p>
        </p:txBody>
      </p:sp>
      <p:sp>
        <p:nvSpPr>
          <p:cNvPr id="9" name="Rectangle 8"/>
          <p:cNvSpPr/>
          <p:nvPr/>
        </p:nvSpPr>
        <p:spPr>
          <a:xfrm>
            <a:off x="548640" y="2561844"/>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479548"/>
            <a:ext cx="3291840" cy="544068"/>
          </a:xfrm>
          <a:prstGeom prst="rect">
            <a:avLst/>
          </a:prstGeom>
          <a:noFill/>
        </p:spPr>
        <p:txBody>
          <a:bodyPr wrap="square" lIns="0" rIns="0" tIns="0" bIns="0" anchor="t">
            <a:spAutoFit/>
          </a:bodyPr>
          <a:lstStyle/>
          <a:p>
            <a:pPr algn="l">
              <a:lnSpc>
                <a:spcPct val="105000"/>
              </a:lnSpc>
              <a:spcAft>
                <a:spcPts val="0"/>
              </a:spcAft>
            </a:pPr>
            <a:r>
              <a:rPr sz="1700" b="0">
                <a:solidFill>
                  <a:srgbClr val="B3C0CF"/>
                </a:solidFill>
                <a:latin typeface="Segoe UI"/>
              </a:rPr>
              <a:t>Shown only </a:t>
            </a:r>
            <a:r>
              <a:rPr sz="1700" b="1">
                <a:solidFill>
                  <a:srgbClr val="EEF3F8"/>
                </a:solidFill>
                <a:latin typeface="Segoe UI"/>
              </a:rPr>
              <a:t>when the trend is significant</a:t>
            </a:r>
            <a:r>
              <a:rPr sz="1700" b="0">
                <a:solidFill>
                  <a:srgbClr val="B3C0CF"/>
                </a:solidFill>
                <a:latin typeface="Segoe UI"/>
              </a:rPr>
              <a:t>.</a:t>
            </a:r>
          </a:p>
        </p:txBody>
      </p:sp>
      <p:sp>
        <p:nvSpPr>
          <p:cNvPr id="11" name="Rectangle 10"/>
          <p:cNvSpPr/>
          <p:nvPr/>
        </p:nvSpPr>
        <p:spPr>
          <a:xfrm>
            <a:off x="548640" y="3258312"/>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3176016"/>
            <a:ext cx="3291840" cy="544068"/>
          </a:xfrm>
          <a:prstGeom prst="rect">
            <a:avLst/>
          </a:prstGeom>
          <a:noFill/>
        </p:spPr>
        <p:txBody>
          <a:bodyPr wrap="square" lIns="0" rIns="0" tIns="0" bIns="0" anchor="t">
            <a:spAutoFit/>
          </a:bodyPr>
          <a:lstStyle/>
          <a:p>
            <a:pPr algn="l">
              <a:lnSpc>
                <a:spcPct val="105000"/>
              </a:lnSpc>
              <a:spcAft>
                <a:spcPts val="0"/>
              </a:spcAft>
            </a:pPr>
            <a:r>
              <a:rPr sz="1700" b="0">
                <a:solidFill>
                  <a:srgbClr val="B3C0CF"/>
                </a:solidFill>
                <a:latin typeface="Segoe UI"/>
              </a:rPr>
              <a:t>Higher load wears faster, so the life shrinks.</a:t>
            </a:r>
          </a:p>
        </p:txBody>
      </p:sp>
      <p:sp>
        <p:nvSpPr>
          <p:cNvPr id="13" name="Rectangle 12"/>
          <p:cNvSpPr/>
          <p:nvPr/>
        </p:nvSpPr>
        <p:spPr>
          <a:xfrm>
            <a:off x="548640" y="3954780"/>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3872484"/>
            <a:ext cx="3291840" cy="544068"/>
          </a:xfrm>
          <a:prstGeom prst="rect">
            <a:avLst/>
          </a:prstGeom>
          <a:noFill/>
        </p:spPr>
        <p:txBody>
          <a:bodyPr wrap="square" lIns="0" rIns="0" tIns="0" bIns="0" anchor="t">
            <a:spAutoFit/>
          </a:bodyPr>
          <a:lstStyle/>
          <a:p>
            <a:pPr algn="l">
              <a:lnSpc>
                <a:spcPct val="105000"/>
              </a:lnSpc>
              <a:spcAft>
                <a:spcPts val="0"/>
              </a:spcAft>
            </a:pPr>
            <a:r>
              <a:rPr sz="1700" b="0">
                <a:solidFill>
                  <a:srgbClr val="B3C0CF"/>
                </a:solidFill>
                <a:latin typeface="Segoe UI"/>
              </a:rPr>
              <a:t>One-click, one-page maintenance report as a PDF.</a:t>
            </a:r>
          </a:p>
        </p:txBody>
      </p:sp>
      <p:sp>
        <p:nvSpPr>
          <p:cNvPr id="15" name="Rectangle 14"/>
          <p:cNvSpPr/>
          <p:nvPr/>
        </p:nvSpPr>
        <p:spPr>
          <a:xfrm>
            <a:off x="6166655" y="1664208"/>
            <a:ext cx="3714409" cy="4581144"/>
          </a:xfrm>
          <a:prstGeom prst="rect">
            <a:avLst/>
          </a:prstGeom>
          <a:solidFill>
            <a:srgbClr val="263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report.png"/>
          <p:cNvPicPr>
            <a:picLocks noChangeAspect="1"/>
          </p:cNvPicPr>
          <p:nvPr/>
        </p:nvPicPr>
        <p:blipFill>
          <a:blip r:embed="rId3"/>
          <a:stretch>
            <a:fillRect/>
          </a:stretch>
        </p:blipFill>
        <p:spPr>
          <a:xfrm>
            <a:off x="6194087" y="1691640"/>
            <a:ext cx="3659545" cy="452628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C131C"/>
        </a:solidFill>
        <a:effectLst/>
      </p:bgPr>
    </p:bg>
    <p:spTree>
      <p:nvGrpSpPr>
        <p:cNvPr id="1" name=""/>
        <p:cNvGrpSpPr/>
        <p:nvPr/>
      </p:nvGrpSpPr>
      <p:grpSpPr/>
      <p:sp>
        <p:nvSpPr>
          <p:cNvPr id="2" name="TextBox 1"/>
          <p:cNvSpPr txBox="1"/>
          <p:nvPr/>
        </p:nvSpPr>
        <p:spPr>
          <a:xfrm>
            <a:off x="548640" y="384048"/>
            <a:ext cx="7315200" cy="274320"/>
          </a:xfrm>
          <a:prstGeom prst="rect">
            <a:avLst/>
          </a:prstGeom>
          <a:noFill/>
        </p:spPr>
        <p:txBody>
          <a:bodyPr wrap="square" lIns="0" rIns="0" tIns="0" bIns="0" anchor="t">
            <a:spAutoFit/>
          </a:bodyPr>
          <a:lstStyle/>
          <a:p>
            <a:pPr algn="l">
              <a:lnSpc>
                <a:spcPct val="110000"/>
              </a:lnSpc>
              <a:spcAft>
                <a:spcPts val="0"/>
              </a:spcAft>
            </a:pPr>
            <a:r>
              <a:rPr sz="1200" b="1">
                <a:solidFill>
                  <a:srgbClr val="35E0F0"/>
                </a:solidFill>
                <a:latin typeface="Consolas"/>
              </a:rPr>
              <a:t>13 · CHECKED, NOT JUST CLAIMED</a:t>
            </a:r>
          </a:p>
        </p:txBody>
      </p:sp>
      <p:sp>
        <p:nvSpPr>
          <p:cNvPr id="3" name="Rectangle 2"/>
          <p:cNvSpPr/>
          <p:nvPr/>
        </p:nvSpPr>
        <p:spPr>
          <a:xfrm>
            <a:off x="548640" y="6400800"/>
            <a:ext cx="11094415" cy="9144"/>
          </a:xfrm>
          <a:prstGeom prst="rect">
            <a:avLst/>
          </a:prstGeom>
          <a:solidFill>
            <a:srgbClr val="263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lnSpc>
                <a:spcPct val="110000"/>
              </a:lnSpc>
              <a:spcAft>
                <a:spcPts val="0"/>
              </a:spcAft>
            </a:pPr>
            <a:r>
              <a:rPr sz="1000" b="0">
                <a:solidFill>
                  <a:srgbClr val="7F8FA3"/>
                </a:solidFill>
                <a:latin typeface="Consolas"/>
              </a:rPr>
              <a:t>IGNISENSE  ·  TEAM REVORA</a:t>
            </a:r>
          </a:p>
        </p:txBody>
      </p:sp>
      <p:sp>
        <p:nvSpPr>
          <p:cNvPr id="5" name="TextBox 4"/>
          <p:cNvSpPr txBox="1"/>
          <p:nvPr/>
        </p:nvSpPr>
        <p:spPr>
          <a:xfrm>
            <a:off x="9814255" y="6473952"/>
            <a:ext cx="1828800" cy="228600"/>
          </a:xfrm>
          <a:prstGeom prst="rect">
            <a:avLst/>
          </a:prstGeom>
          <a:noFill/>
        </p:spPr>
        <p:txBody>
          <a:bodyPr wrap="square" lIns="0" rIns="0" tIns="0" bIns="0" anchor="t">
            <a:spAutoFit/>
          </a:bodyPr>
          <a:lstStyle/>
          <a:p>
            <a:pPr algn="r">
              <a:lnSpc>
                <a:spcPct val="110000"/>
              </a:lnSpc>
              <a:spcAft>
                <a:spcPts val="0"/>
              </a:spcAft>
            </a:pPr>
            <a:r>
              <a:rPr sz="1000" b="0">
                <a:solidFill>
                  <a:srgbClr val="7F8FA3"/>
                </a:solidFill>
                <a:latin typeface="Consolas"/>
              </a:rPr>
              <a:t>14 / 17</a:t>
            </a:r>
          </a:p>
        </p:txBody>
      </p:sp>
      <p:sp>
        <p:nvSpPr>
          <p:cNvPr id="6" name="TextBox 5"/>
          <p:cNvSpPr txBox="1"/>
          <p:nvPr/>
        </p:nvSpPr>
        <p:spPr>
          <a:xfrm>
            <a:off x="548640" y="713232"/>
            <a:ext cx="11064240" cy="914400"/>
          </a:xfrm>
          <a:prstGeom prst="rect">
            <a:avLst/>
          </a:prstGeom>
          <a:noFill/>
        </p:spPr>
        <p:txBody>
          <a:bodyPr wrap="square" lIns="0" rIns="0" tIns="0" bIns="0" anchor="t">
            <a:spAutoFit/>
          </a:bodyPr>
          <a:lstStyle/>
          <a:p>
            <a:pPr algn="l">
              <a:lnSpc>
                <a:spcPct val="100000"/>
              </a:lnSpc>
              <a:spcAft>
                <a:spcPts val="0"/>
              </a:spcAft>
            </a:pPr>
            <a:r>
              <a:rPr sz="3000" b="1">
                <a:solidFill>
                  <a:srgbClr val="EEF3F8"/>
                </a:solidFill>
                <a:latin typeface="Segoe UI"/>
              </a:rPr>
              <a:t>Every number is checked against hand calculation</a:t>
            </a:r>
          </a:p>
        </p:txBody>
      </p:sp>
      <p:sp>
        <p:nvSpPr>
          <p:cNvPr id="7" name="TextBox 6"/>
          <p:cNvSpPr txBox="1"/>
          <p:nvPr/>
        </p:nvSpPr>
        <p:spPr>
          <a:xfrm>
            <a:off x="548640" y="1828800"/>
            <a:ext cx="2743200" cy="822960"/>
          </a:xfrm>
          <a:prstGeom prst="rect">
            <a:avLst/>
          </a:prstGeom>
          <a:noFill/>
        </p:spPr>
        <p:txBody>
          <a:bodyPr wrap="square" lIns="0" rIns="0" tIns="0" bIns="0" anchor="t">
            <a:spAutoFit/>
          </a:bodyPr>
          <a:lstStyle/>
          <a:p>
            <a:pPr algn="l">
              <a:lnSpc>
                <a:spcPct val="110000"/>
              </a:lnSpc>
              <a:spcAft>
                <a:spcPts val="0"/>
              </a:spcAft>
            </a:pPr>
            <a:r>
              <a:rPr sz="4800" b="1">
                <a:solidFill>
                  <a:srgbClr val="3DDC84"/>
                </a:solidFill>
                <a:latin typeface="Consolas"/>
              </a:rPr>
              <a:t>363</a:t>
            </a:r>
          </a:p>
        </p:txBody>
      </p:sp>
      <p:sp>
        <p:nvSpPr>
          <p:cNvPr id="8" name="TextBox 7"/>
          <p:cNvSpPr txBox="1"/>
          <p:nvPr/>
        </p:nvSpPr>
        <p:spPr>
          <a:xfrm>
            <a:off x="548640" y="2697480"/>
            <a:ext cx="2743200" cy="731520"/>
          </a:xfrm>
          <a:prstGeom prst="rect">
            <a:avLst/>
          </a:prstGeom>
          <a:noFill/>
        </p:spPr>
        <p:txBody>
          <a:bodyPr wrap="square" lIns="0" rIns="0" tIns="0" bIns="0" anchor="t">
            <a:spAutoFit/>
          </a:bodyPr>
          <a:lstStyle/>
          <a:p>
            <a:pPr algn="l">
              <a:lnSpc>
                <a:spcPct val="110000"/>
              </a:lnSpc>
              <a:spcAft>
                <a:spcPts val="0"/>
              </a:spcAft>
            </a:pPr>
            <a:r>
              <a:rPr sz="1500" b="0">
                <a:solidFill>
                  <a:srgbClr val="B3C0CF"/>
                </a:solidFill>
                <a:latin typeface="Segoe UI"/>
              </a:rPr>
              <a:t>automated tests, all passing</a:t>
            </a:r>
          </a:p>
        </p:txBody>
      </p:sp>
      <p:sp>
        <p:nvSpPr>
          <p:cNvPr id="9" name="TextBox 8"/>
          <p:cNvSpPr txBox="1"/>
          <p:nvPr/>
        </p:nvSpPr>
        <p:spPr>
          <a:xfrm>
            <a:off x="548640" y="3429000"/>
            <a:ext cx="2743200" cy="822960"/>
          </a:xfrm>
          <a:prstGeom prst="rect">
            <a:avLst/>
          </a:prstGeom>
          <a:noFill/>
        </p:spPr>
        <p:txBody>
          <a:bodyPr wrap="square" lIns="0" rIns="0" tIns="0" bIns="0" anchor="t">
            <a:spAutoFit/>
          </a:bodyPr>
          <a:lstStyle/>
          <a:p>
            <a:pPr algn="l">
              <a:lnSpc>
                <a:spcPct val="110000"/>
              </a:lnSpc>
              <a:spcAft>
                <a:spcPts val="0"/>
              </a:spcAft>
            </a:pPr>
            <a:r>
              <a:rPr sz="4800" b="1">
                <a:solidFill>
                  <a:srgbClr val="35E0F0"/>
                </a:solidFill>
                <a:latin typeface="Consolas"/>
              </a:rPr>
              <a:t>26</a:t>
            </a:r>
          </a:p>
        </p:txBody>
      </p:sp>
      <p:sp>
        <p:nvSpPr>
          <p:cNvPr id="10" name="TextBox 9"/>
          <p:cNvSpPr txBox="1"/>
          <p:nvPr/>
        </p:nvSpPr>
        <p:spPr>
          <a:xfrm>
            <a:off x="548640" y="4297680"/>
            <a:ext cx="2743200" cy="731520"/>
          </a:xfrm>
          <a:prstGeom prst="rect">
            <a:avLst/>
          </a:prstGeom>
          <a:noFill/>
        </p:spPr>
        <p:txBody>
          <a:bodyPr wrap="square" lIns="0" rIns="0" tIns="0" bIns="0" anchor="t">
            <a:spAutoFit/>
          </a:bodyPr>
          <a:lstStyle/>
          <a:p>
            <a:pPr algn="l">
              <a:lnSpc>
                <a:spcPct val="110000"/>
              </a:lnSpc>
              <a:spcAft>
                <a:spcPts val="0"/>
              </a:spcAft>
            </a:pPr>
            <a:r>
              <a:rPr sz="1500" b="0">
                <a:solidFill>
                  <a:srgbClr val="B3C0CF"/>
                </a:solidFill>
                <a:latin typeface="Segoe UI"/>
              </a:rPr>
              <a:t>live checks on the Validation page</a:t>
            </a:r>
          </a:p>
        </p:txBody>
      </p:sp>
      <p:sp>
        <p:nvSpPr>
          <p:cNvPr id="11" name="TextBox 10"/>
          <p:cNvSpPr txBox="1"/>
          <p:nvPr/>
        </p:nvSpPr>
        <p:spPr>
          <a:xfrm>
            <a:off x="548640" y="5029200"/>
            <a:ext cx="2743200" cy="822960"/>
          </a:xfrm>
          <a:prstGeom prst="rect">
            <a:avLst/>
          </a:prstGeom>
          <a:noFill/>
        </p:spPr>
        <p:txBody>
          <a:bodyPr wrap="square" lIns="0" rIns="0" tIns="0" bIns="0" anchor="t">
            <a:spAutoFit/>
          </a:bodyPr>
          <a:lstStyle/>
          <a:p>
            <a:pPr algn="l">
              <a:lnSpc>
                <a:spcPct val="110000"/>
              </a:lnSpc>
              <a:spcAft>
                <a:spcPts val="0"/>
              </a:spcAft>
            </a:pPr>
            <a:r>
              <a:rPr sz="4800" b="1">
                <a:solidFill>
                  <a:srgbClr val="F5D547"/>
                </a:solidFill>
                <a:latin typeface="Consolas"/>
              </a:rPr>
              <a:t>2%</a:t>
            </a:r>
          </a:p>
        </p:txBody>
      </p:sp>
      <p:sp>
        <p:nvSpPr>
          <p:cNvPr id="12" name="TextBox 11"/>
          <p:cNvSpPr txBox="1"/>
          <p:nvPr/>
        </p:nvSpPr>
        <p:spPr>
          <a:xfrm>
            <a:off x="548640" y="5897880"/>
            <a:ext cx="2743200" cy="731520"/>
          </a:xfrm>
          <a:prstGeom prst="rect">
            <a:avLst/>
          </a:prstGeom>
          <a:noFill/>
        </p:spPr>
        <p:txBody>
          <a:bodyPr wrap="square" lIns="0" rIns="0" tIns="0" bIns="0" anchor="t">
            <a:spAutoFit/>
          </a:bodyPr>
          <a:lstStyle/>
          <a:p>
            <a:pPr algn="l">
              <a:lnSpc>
                <a:spcPct val="110000"/>
              </a:lnSpc>
              <a:spcAft>
                <a:spcPts val="0"/>
              </a:spcAft>
            </a:pPr>
            <a:r>
              <a:rPr sz="1500" b="0">
                <a:solidFill>
                  <a:srgbClr val="B3C0CF"/>
                </a:solidFill>
                <a:latin typeface="Segoe UI"/>
              </a:rPr>
              <a:t>tolerance on every review value</a:t>
            </a:r>
          </a:p>
        </p:txBody>
      </p:sp>
      <p:sp>
        <p:nvSpPr>
          <p:cNvPr id="13" name="Rectangle 12"/>
          <p:cNvSpPr/>
          <p:nvPr/>
        </p:nvSpPr>
        <p:spPr>
          <a:xfrm>
            <a:off x="4385619" y="1664208"/>
            <a:ext cx="6773560" cy="4581144"/>
          </a:xfrm>
          <a:prstGeom prst="rect">
            <a:avLst/>
          </a:prstGeom>
          <a:solidFill>
            <a:srgbClr val="263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alidation.png"/>
          <p:cNvPicPr>
            <a:picLocks noChangeAspect="1"/>
          </p:cNvPicPr>
          <p:nvPr/>
        </p:nvPicPr>
        <p:blipFill>
          <a:blip r:embed="rId3"/>
          <a:stretch>
            <a:fillRect/>
          </a:stretch>
        </p:blipFill>
        <p:spPr>
          <a:xfrm>
            <a:off x="4413051" y="1691640"/>
            <a:ext cx="6718696" cy="452628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C131C"/>
        </a:solidFill>
        <a:effectLst/>
      </p:bgPr>
    </p:bg>
    <p:spTree>
      <p:nvGrpSpPr>
        <p:cNvPr id="1" name=""/>
        <p:cNvGrpSpPr/>
        <p:nvPr/>
      </p:nvGrpSpPr>
      <p:grpSpPr/>
      <p:sp>
        <p:nvSpPr>
          <p:cNvPr id="2" name="TextBox 1"/>
          <p:cNvSpPr txBox="1"/>
          <p:nvPr/>
        </p:nvSpPr>
        <p:spPr>
          <a:xfrm>
            <a:off x="548640" y="384048"/>
            <a:ext cx="7315200" cy="274320"/>
          </a:xfrm>
          <a:prstGeom prst="rect">
            <a:avLst/>
          </a:prstGeom>
          <a:noFill/>
        </p:spPr>
        <p:txBody>
          <a:bodyPr wrap="square" lIns="0" rIns="0" tIns="0" bIns="0" anchor="t">
            <a:spAutoFit/>
          </a:bodyPr>
          <a:lstStyle/>
          <a:p>
            <a:pPr algn="l">
              <a:lnSpc>
                <a:spcPct val="110000"/>
              </a:lnSpc>
              <a:spcAft>
                <a:spcPts val="0"/>
              </a:spcAft>
            </a:pPr>
            <a:r>
              <a:rPr sz="1200" b="1">
                <a:solidFill>
                  <a:srgbClr val="35E0F0"/>
                </a:solidFill>
                <a:latin typeface="Consolas"/>
              </a:rPr>
              <a:t>14 · FROM SIMULATOR TO A REAL ENGINE</a:t>
            </a:r>
          </a:p>
        </p:txBody>
      </p:sp>
      <p:sp>
        <p:nvSpPr>
          <p:cNvPr id="3" name="Rectangle 2"/>
          <p:cNvSpPr/>
          <p:nvPr/>
        </p:nvSpPr>
        <p:spPr>
          <a:xfrm>
            <a:off x="548640" y="6400800"/>
            <a:ext cx="11094415" cy="9144"/>
          </a:xfrm>
          <a:prstGeom prst="rect">
            <a:avLst/>
          </a:prstGeom>
          <a:solidFill>
            <a:srgbClr val="263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lnSpc>
                <a:spcPct val="110000"/>
              </a:lnSpc>
              <a:spcAft>
                <a:spcPts val="0"/>
              </a:spcAft>
            </a:pPr>
            <a:r>
              <a:rPr sz="1000" b="0">
                <a:solidFill>
                  <a:srgbClr val="7F8FA3"/>
                </a:solidFill>
                <a:latin typeface="Consolas"/>
              </a:rPr>
              <a:t>IGNISENSE  ·  TEAM REVORA</a:t>
            </a:r>
          </a:p>
        </p:txBody>
      </p:sp>
      <p:sp>
        <p:nvSpPr>
          <p:cNvPr id="5" name="TextBox 4"/>
          <p:cNvSpPr txBox="1"/>
          <p:nvPr/>
        </p:nvSpPr>
        <p:spPr>
          <a:xfrm>
            <a:off x="9814255" y="6473952"/>
            <a:ext cx="1828800" cy="228600"/>
          </a:xfrm>
          <a:prstGeom prst="rect">
            <a:avLst/>
          </a:prstGeom>
          <a:noFill/>
        </p:spPr>
        <p:txBody>
          <a:bodyPr wrap="square" lIns="0" rIns="0" tIns="0" bIns="0" anchor="t">
            <a:spAutoFit/>
          </a:bodyPr>
          <a:lstStyle/>
          <a:p>
            <a:pPr algn="r">
              <a:lnSpc>
                <a:spcPct val="110000"/>
              </a:lnSpc>
              <a:spcAft>
                <a:spcPts val="0"/>
              </a:spcAft>
            </a:pPr>
            <a:r>
              <a:rPr sz="1000" b="0">
                <a:solidFill>
                  <a:srgbClr val="7F8FA3"/>
                </a:solidFill>
                <a:latin typeface="Consolas"/>
              </a:rPr>
              <a:t>15 / 17</a:t>
            </a:r>
          </a:p>
        </p:txBody>
      </p:sp>
      <p:sp>
        <p:nvSpPr>
          <p:cNvPr id="6" name="TextBox 5"/>
          <p:cNvSpPr txBox="1"/>
          <p:nvPr/>
        </p:nvSpPr>
        <p:spPr>
          <a:xfrm>
            <a:off x="548640" y="713232"/>
            <a:ext cx="11064240" cy="914400"/>
          </a:xfrm>
          <a:prstGeom prst="rect">
            <a:avLst/>
          </a:prstGeom>
          <a:noFill/>
        </p:spPr>
        <p:txBody>
          <a:bodyPr wrap="square" lIns="0" rIns="0" tIns="0" bIns="0" anchor="t">
            <a:spAutoFit/>
          </a:bodyPr>
          <a:lstStyle/>
          <a:p>
            <a:pPr algn="l">
              <a:lnSpc>
                <a:spcPct val="100000"/>
              </a:lnSpc>
              <a:spcAft>
                <a:spcPts val="0"/>
              </a:spcAft>
            </a:pPr>
            <a:r>
              <a:rPr sz="3000" b="1">
                <a:solidFill>
                  <a:srgbClr val="EEF3F8"/>
                </a:solidFill>
                <a:latin typeface="Segoe UI"/>
              </a:rPr>
              <a:t>Same analytics, any source</a:t>
            </a:r>
          </a:p>
        </p:txBody>
      </p:sp>
      <p:sp>
        <p:nvSpPr>
          <p:cNvPr id="7" name="Rectangle 6"/>
          <p:cNvSpPr/>
          <p:nvPr/>
        </p:nvSpPr>
        <p:spPr>
          <a:xfrm>
            <a:off x="548640" y="1828800"/>
            <a:ext cx="2743200" cy="685800"/>
          </a:xfrm>
          <a:prstGeom prst="rect">
            <a:avLst/>
          </a:prstGeom>
          <a:solidFill>
            <a:srgbClr val="121B26"/>
          </a:solidFill>
          <a:ln w="15875">
            <a:solidFill>
              <a:srgbClr val="3DDC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901952"/>
            <a:ext cx="2377440" cy="274320"/>
          </a:xfrm>
          <a:prstGeom prst="rect">
            <a:avLst/>
          </a:prstGeom>
          <a:noFill/>
        </p:spPr>
        <p:txBody>
          <a:bodyPr wrap="square" lIns="0" rIns="0" tIns="0" bIns="0" anchor="t">
            <a:spAutoFit/>
          </a:bodyPr>
          <a:lstStyle/>
          <a:p>
            <a:pPr algn="l">
              <a:lnSpc>
                <a:spcPct val="110000"/>
              </a:lnSpc>
              <a:spcAft>
                <a:spcPts val="0"/>
              </a:spcAft>
            </a:pPr>
            <a:r>
              <a:rPr sz="1400" b="1">
                <a:solidFill>
                  <a:srgbClr val="EEF3F8"/>
                </a:solidFill>
                <a:latin typeface="Consolas"/>
              </a:rPr>
              <a:t>SIMULATOR</a:t>
            </a:r>
          </a:p>
        </p:txBody>
      </p:sp>
      <p:sp>
        <p:nvSpPr>
          <p:cNvPr id="9" name="TextBox 8"/>
          <p:cNvSpPr txBox="1"/>
          <p:nvPr/>
        </p:nvSpPr>
        <p:spPr>
          <a:xfrm>
            <a:off x="731520" y="2194560"/>
            <a:ext cx="2377440" cy="274320"/>
          </a:xfrm>
          <a:prstGeom prst="rect">
            <a:avLst/>
          </a:prstGeom>
          <a:noFill/>
        </p:spPr>
        <p:txBody>
          <a:bodyPr wrap="square" lIns="0" rIns="0" tIns="0" bIns="0" anchor="t">
            <a:spAutoFit/>
          </a:bodyPr>
          <a:lstStyle/>
          <a:p>
            <a:pPr algn="l">
              <a:lnSpc>
                <a:spcPct val="110000"/>
              </a:lnSpc>
              <a:spcAft>
                <a:spcPts val="0"/>
              </a:spcAft>
            </a:pPr>
            <a:r>
              <a:rPr sz="1200" b="0">
                <a:solidFill>
                  <a:srgbClr val="B3C0CF"/>
                </a:solidFill>
                <a:latin typeface="Segoe UI"/>
              </a:rPr>
              <a:t>built-in plant</a:t>
            </a:r>
          </a:p>
        </p:txBody>
      </p:sp>
      <p:sp>
        <p:nvSpPr>
          <p:cNvPr id="10" name="Right Arrow 9"/>
          <p:cNvSpPr/>
          <p:nvPr/>
        </p:nvSpPr>
        <p:spPr>
          <a:xfrm>
            <a:off x="3429000" y="2029968"/>
            <a:ext cx="548640" cy="274320"/>
          </a:xfrm>
          <a:prstGeom prst="rightArrow">
            <a:avLst/>
          </a:prstGeom>
          <a:solidFill>
            <a:srgbClr val="7F8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670048"/>
            <a:ext cx="2743200" cy="685800"/>
          </a:xfrm>
          <a:prstGeom prst="rect">
            <a:avLst/>
          </a:prstGeom>
          <a:solidFill>
            <a:srgbClr val="121B26"/>
          </a:solidFill>
          <a:ln w="15875">
            <a:solidFill>
              <a:srgbClr val="3DDC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743200"/>
            <a:ext cx="2377440" cy="274320"/>
          </a:xfrm>
          <a:prstGeom prst="rect">
            <a:avLst/>
          </a:prstGeom>
          <a:noFill/>
        </p:spPr>
        <p:txBody>
          <a:bodyPr wrap="square" lIns="0" rIns="0" tIns="0" bIns="0" anchor="t">
            <a:spAutoFit/>
          </a:bodyPr>
          <a:lstStyle/>
          <a:p>
            <a:pPr algn="l">
              <a:lnSpc>
                <a:spcPct val="110000"/>
              </a:lnSpc>
              <a:spcAft>
                <a:spcPts val="0"/>
              </a:spcAft>
            </a:pPr>
            <a:r>
              <a:rPr sz="1400" b="1">
                <a:solidFill>
                  <a:srgbClr val="EEF3F8"/>
                </a:solidFill>
                <a:latin typeface="Consolas"/>
              </a:rPr>
              <a:t>CSV REPLAY</a:t>
            </a:r>
          </a:p>
        </p:txBody>
      </p:sp>
      <p:sp>
        <p:nvSpPr>
          <p:cNvPr id="13" name="TextBox 12"/>
          <p:cNvSpPr txBox="1"/>
          <p:nvPr/>
        </p:nvSpPr>
        <p:spPr>
          <a:xfrm>
            <a:off x="731520" y="3035808"/>
            <a:ext cx="2377440" cy="274320"/>
          </a:xfrm>
          <a:prstGeom prst="rect">
            <a:avLst/>
          </a:prstGeom>
          <a:noFill/>
        </p:spPr>
        <p:txBody>
          <a:bodyPr wrap="square" lIns="0" rIns="0" tIns="0" bIns="0" anchor="t">
            <a:spAutoFit/>
          </a:bodyPr>
          <a:lstStyle/>
          <a:p>
            <a:pPr algn="l">
              <a:lnSpc>
                <a:spcPct val="110000"/>
              </a:lnSpc>
              <a:spcAft>
                <a:spcPts val="0"/>
              </a:spcAft>
            </a:pPr>
            <a:r>
              <a:rPr sz="1200" b="0">
                <a:solidFill>
                  <a:srgbClr val="B3C0CF"/>
                </a:solidFill>
                <a:latin typeface="Segoe UI"/>
              </a:rPr>
              <a:t>recorded runs</a:t>
            </a:r>
          </a:p>
        </p:txBody>
      </p:sp>
      <p:sp>
        <p:nvSpPr>
          <p:cNvPr id="14" name="Right Arrow 13"/>
          <p:cNvSpPr/>
          <p:nvPr/>
        </p:nvSpPr>
        <p:spPr>
          <a:xfrm>
            <a:off x="3429000" y="2871216"/>
            <a:ext cx="548640" cy="274320"/>
          </a:xfrm>
          <a:prstGeom prst="rightArrow">
            <a:avLst/>
          </a:prstGeom>
          <a:solidFill>
            <a:srgbClr val="7F8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511296"/>
            <a:ext cx="2743200" cy="685800"/>
          </a:xfrm>
          <a:prstGeom prst="rect">
            <a:avLst/>
          </a:prstGeom>
          <a:solidFill>
            <a:srgbClr val="121B26"/>
          </a:solidFill>
          <a:ln w="15875">
            <a:solidFill>
              <a:srgbClr val="F5D5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584448"/>
            <a:ext cx="2377440" cy="274320"/>
          </a:xfrm>
          <a:prstGeom prst="rect">
            <a:avLst/>
          </a:prstGeom>
          <a:noFill/>
        </p:spPr>
        <p:txBody>
          <a:bodyPr wrap="square" lIns="0" rIns="0" tIns="0" bIns="0" anchor="t">
            <a:spAutoFit/>
          </a:bodyPr>
          <a:lstStyle/>
          <a:p>
            <a:pPr algn="l">
              <a:lnSpc>
                <a:spcPct val="110000"/>
              </a:lnSpc>
              <a:spcAft>
                <a:spcPts val="0"/>
              </a:spcAft>
            </a:pPr>
            <a:r>
              <a:rPr sz="1400" b="1">
                <a:solidFill>
                  <a:srgbClr val="EEF3F8"/>
                </a:solidFill>
                <a:latin typeface="Consolas"/>
              </a:rPr>
              <a:t>ESP32</a:t>
            </a:r>
          </a:p>
        </p:txBody>
      </p:sp>
      <p:sp>
        <p:nvSpPr>
          <p:cNvPr id="17" name="TextBox 16"/>
          <p:cNvSpPr txBox="1"/>
          <p:nvPr/>
        </p:nvSpPr>
        <p:spPr>
          <a:xfrm>
            <a:off x="731520" y="3877056"/>
            <a:ext cx="2377440" cy="274320"/>
          </a:xfrm>
          <a:prstGeom prst="rect">
            <a:avLst/>
          </a:prstGeom>
          <a:noFill/>
        </p:spPr>
        <p:txBody>
          <a:bodyPr wrap="square" lIns="0" rIns="0" tIns="0" bIns="0" anchor="t">
            <a:spAutoFit/>
          </a:bodyPr>
          <a:lstStyle/>
          <a:p>
            <a:pPr algn="l">
              <a:lnSpc>
                <a:spcPct val="110000"/>
              </a:lnSpc>
              <a:spcAft>
                <a:spcPts val="0"/>
              </a:spcAft>
            </a:pPr>
            <a:r>
              <a:rPr sz="1200" b="0">
                <a:solidFill>
                  <a:srgbClr val="B3C0CF"/>
                </a:solidFill>
                <a:latin typeface="Segoe UI"/>
              </a:rPr>
              <a:t>USB, real sensors</a:t>
            </a:r>
          </a:p>
        </p:txBody>
      </p:sp>
      <p:sp>
        <p:nvSpPr>
          <p:cNvPr id="18" name="Right Arrow 17"/>
          <p:cNvSpPr/>
          <p:nvPr/>
        </p:nvSpPr>
        <p:spPr>
          <a:xfrm>
            <a:off x="3429000" y="3712463"/>
            <a:ext cx="548640" cy="274320"/>
          </a:xfrm>
          <a:prstGeom prst="rightArrow">
            <a:avLst/>
          </a:prstGeom>
          <a:solidFill>
            <a:srgbClr val="7F8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4352544"/>
            <a:ext cx="2743200" cy="685800"/>
          </a:xfrm>
          <a:prstGeom prst="rect">
            <a:avLst/>
          </a:prstGeom>
          <a:solidFill>
            <a:srgbClr val="121B26"/>
          </a:solidFill>
          <a:ln w="15875">
            <a:solidFill>
              <a:srgbClr val="F5D5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425696"/>
            <a:ext cx="2377440" cy="274320"/>
          </a:xfrm>
          <a:prstGeom prst="rect">
            <a:avLst/>
          </a:prstGeom>
          <a:noFill/>
        </p:spPr>
        <p:txBody>
          <a:bodyPr wrap="square" lIns="0" rIns="0" tIns="0" bIns="0" anchor="t">
            <a:spAutoFit/>
          </a:bodyPr>
          <a:lstStyle/>
          <a:p>
            <a:pPr algn="l">
              <a:lnSpc>
                <a:spcPct val="110000"/>
              </a:lnSpc>
              <a:spcAft>
                <a:spcPts val="0"/>
              </a:spcAft>
            </a:pPr>
            <a:r>
              <a:rPr sz="1400" b="1">
                <a:solidFill>
                  <a:srgbClr val="EEF3F8"/>
                </a:solidFill>
                <a:latin typeface="Consolas"/>
              </a:rPr>
              <a:t>OBD-II</a:t>
            </a:r>
          </a:p>
        </p:txBody>
      </p:sp>
      <p:sp>
        <p:nvSpPr>
          <p:cNvPr id="21" name="TextBox 20"/>
          <p:cNvSpPr txBox="1"/>
          <p:nvPr/>
        </p:nvSpPr>
        <p:spPr>
          <a:xfrm>
            <a:off x="731520" y="4718304"/>
            <a:ext cx="2377440" cy="274320"/>
          </a:xfrm>
          <a:prstGeom prst="rect">
            <a:avLst/>
          </a:prstGeom>
          <a:noFill/>
        </p:spPr>
        <p:txBody>
          <a:bodyPr wrap="square" lIns="0" rIns="0" tIns="0" bIns="0" anchor="t">
            <a:spAutoFit/>
          </a:bodyPr>
          <a:lstStyle/>
          <a:p>
            <a:pPr algn="l">
              <a:lnSpc>
                <a:spcPct val="110000"/>
              </a:lnSpc>
              <a:spcAft>
                <a:spcPts val="0"/>
              </a:spcAft>
            </a:pPr>
            <a:r>
              <a:rPr sz="1200" b="0">
                <a:solidFill>
                  <a:srgbClr val="B3C0CF"/>
                </a:solidFill>
                <a:latin typeface="Segoe UI"/>
              </a:rPr>
              <a:t>a real car</a:t>
            </a:r>
          </a:p>
        </p:txBody>
      </p:sp>
      <p:sp>
        <p:nvSpPr>
          <p:cNvPr id="22" name="Right Arrow 21"/>
          <p:cNvSpPr/>
          <p:nvPr/>
        </p:nvSpPr>
        <p:spPr>
          <a:xfrm>
            <a:off x="3429000" y="4553712"/>
            <a:ext cx="548640" cy="274320"/>
          </a:xfrm>
          <a:prstGeom prst="rightArrow">
            <a:avLst/>
          </a:prstGeom>
          <a:solidFill>
            <a:srgbClr val="7F8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5193792"/>
            <a:ext cx="2743200" cy="685800"/>
          </a:xfrm>
          <a:prstGeom prst="rect">
            <a:avLst/>
          </a:prstGeom>
          <a:solidFill>
            <a:srgbClr val="121B26"/>
          </a:solidFill>
          <a:ln w="15875">
            <a:solidFill>
              <a:srgbClr val="F5D5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5266944"/>
            <a:ext cx="2377440" cy="274320"/>
          </a:xfrm>
          <a:prstGeom prst="rect">
            <a:avLst/>
          </a:prstGeom>
          <a:noFill/>
        </p:spPr>
        <p:txBody>
          <a:bodyPr wrap="square" lIns="0" rIns="0" tIns="0" bIns="0" anchor="t">
            <a:spAutoFit/>
          </a:bodyPr>
          <a:lstStyle/>
          <a:p>
            <a:pPr algn="l">
              <a:lnSpc>
                <a:spcPct val="110000"/>
              </a:lnSpc>
              <a:spcAft>
                <a:spcPts val="0"/>
              </a:spcAft>
            </a:pPr>
            <a:r>
              <a:rPr sz="1400" b="1">
                <a:solidFill>
                  <a:srgbClr val="EEF3F8"/>
                </a:solidFill>
                <a:latin typeface="Consolas"/>
              </a:rPr>
              <a:t>PHONE</a:t>
            </a:r>
          </a:p>
        </p:txBody>
      </p:sp>
      <p:sp>
        <p:nvSpPr>
          <p:cNvPr id="25" name="TextBox 24"/>
          <p:cNvSpPr txBox="1"/>
          <p:nvPr/>
        </p:nvSpPr>
        <p:spPr>
          <a:xfrm>
            <a:off x="731520" y="5559552"/>
            <a:ext cx="2377440" cy="274320"/>
          </a:xfrm>
          <a:prstGeom prst="rect">
            <a:avLst/>
          </a:prstGeom>
          <a:noFill/>
        </p:spPr>
        <p:txBody>
          <a:bodyPr wrap="square" lIns="0" rIns="0" tIns="0" bIns="0" anchor="t">
            <a:spAutoFit/>
          </a:bodyPr>
          <a:lstStyle/>
          <a:p>
            <a:pPr algn="l">
              <a:lnSpc>
                <a:spcPct val="110000"/>
              </a:lnSpc>
              <a:spcAft>
                <a:spcPts val="0"/>
              </a:spcAft>
            </a:pPr>
            <a:r>
              <a:rPr sz="1200" b="0">
                <a:solidFill>
                  <a:srgbClr val="B3C0CF"/>
                </a:solidFill>
                <a:latin typeface="Segoe UI"/>
              </a:rPr>
              <a:t>accelerometer</a:t>
            </a:r>
          </a:p>
        </p:txBody>
      </p:sp>
      <p:sp>
        <p:nvSpPr>
          <p:cNvPr id="26" name="Right Arrow 25"/>
          <p:cNvSpPr/>
          <p:nvPr/>
        </p:nvSpPr>
        <p:spPr>
          <a:xfrm>
            <a:off x="3429000" y="5394959"/>
            <a:ext cx="548640" cy="274320"/>
          </a:xfrm>
          <a:prstGeom prst="rightArrow">
            <a:avLst/>
          </a:prstGeom>
          <a:solidFill>
            <a:srgbClr val="7F8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160520" y="2377440"/>
            <a:ext cx="2743200" cy="1645920"/>
          </a:xfrm>
          <a:prstGeom prst="rect">
            <a:avLst/>
          </a:prstGeom>
          <a:solidFill>
            <a:srgbClr val="10333D"/>
          </a:solidFill>
          <a:ln w="15875">
            <a:solidFill>
              <a:srgbClr val="35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97680" y="2505456"/>
            <a:ext cx="2468880" cy="365760"/>
          </a:xfrm>
          <a:prstGeom prst="rect">
            <a:avLst/>
          </a:prstGeom>
          <a:noFill/>
        </p:spPr>
        <p:txBody>
          <a:bodyPr wrap="square" lIns="0" rIns="0" tIns="0" bIns="0" anchor="t">
            <a:spAutoFit/>
          </a:bodyPr>
          <a:lstStyle/>
          <a:p>
            <a:pPr algn="ctr">
              <a:lnSpc>
                <a:spcPct val="110000"/>
              </a:lnSpc>
              <a:spcAft>
                <a:spcPts val="0"/>
              </a:spcAft>
            </a:pPr>
            <a:r>
              <a:rPr sz="1700" b="1">
                <a:solidFill>
                  <a:srgbClr val="35E0F0"/>
                </a:solidFill>
                <a:latin typeface="Consolas"/>
              </a:rPr>
              <a:t>TELEMETRY</a:t>
            </a:r>
          </a:p>
        </p:txBody>
      </p:sp>
      <p:sp>
        <p:nvSpPr>
          <p:cNvPr id="29" name="TextBox 28"/>
          <p:cNvSpPr txBox="1"/>
          <p:nvPr/>
        </p:nvSpPr>
        <p:spPr>
          <a:xfrm>
            <a:off x="4297680" y="2926080"/>
            <a:ext cx="2468880" cy="1051560"/>
          </a:xfrm>
          <a:prstGeom prst="rect">
            <a:avLst/>
          </a:prstGeom>
          <a:noFill/>
        </p:spPr>
        <p:txBody>
          <a:bodyPr wrap="square" lIns="0" rIns="0" tIns="0" bIns="0" anchor="t">
            <a:spAutoFit/>
          </a:bodyPr>
          <a:lstStyle/>
          <a:p>
            <a:pPr algn="ctr">
              <a:lnSpc>
                <a:spcPct val="105000"/>
              </a:lnSpc>
              <a:spcAft>
                <a:spcPts val="0"/>
              </a:spcAft>
            </a:pPr>
            <a:r>
              <a:rPr sz="1300" b="0">
                <a:solidFill>
                  <a:srgbClr val="B3C0CF"/>
                </a:solidFill>
                <a:latin typeface="Segoe UI"/>
              </a:rPr>
              <a:t>one common
format</a:t>
            </a:r>
          </a:p>
        </p:txBody>
      </p:sp>
      <p:sp>
        <p:nvSpPr>
          <p:cNvPr id="30" name="Right Arrow 29"/>
          <p:cNvSpPr/>
          <p:nvPr/>
        </p:nvSpPr>
        <p:spPr>
          <a:xfrm>
            <a:off x="7040880" y="3063240"/>
            <a:ext cx="548640" cy="274320"/>
          </a:xfrm>
          <a:prstGeom prst="rightArrow">
            <a:avLst/>
          </a:prstGeom>
          <a:solidFill>
            <a:srgbClr val="7F8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0" y="2011680"/>
            <a:ext cx="3840480" cy="1051560"/>
          </a:xfrm>
          <a:prstGeom prst="rect">
            <a:avLst/>
          </a:prstGeom>
          <a:solidFill>
            <a:srgbClr val="121B26"/>
          </a:solidFill>
          <a:ln w="15875">
            <a:solidFill>
              <a:srgbClr val="2632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09560" y="2139696"/>
            <a:ext cx="3566160" cy="365760"/>
          </a:xfrm>
          <a:prstGeom prst="rect">
            <a:avLst/>
          </a:prstGeom>
          <a:noFill/>
        </p:spPr>
        <p:txBody>
          <a:bodyPr wrap="square" lIns="0" rIns="0" tIns="0" bIns="0" anchor="t">
            <a:spAutoFit/>
          </a:bodyPr>
          <a:lstStyle/>
          <a:p>
            <a:pPr algn="ctr">
              <a:lnSpc>
                <a:spcPct val="110000"/>
              </a:lnSpc>
              <a:spcAft>
                <a:spcPts val="0"/>
              </a:spcAft>
            </a:pPr>
            <a:r>
              <a:rPr sz="1700" b="1">
                <a:solidFill>
                  <a:srgbClr val="EEF3F8"/>
                </a:solidFill>
                <a:latin typeface="Consolas"/>
              </a:rPr>
              <a:t>TWIN</a:t>
            </a:r>
          </a:p>
        </p:txBody>
      </p:sp>
      <p:sp>
        <p:nvSpPr>
          <p:cNvPr id="33" name="TextBox 32"/>
          <p:cNvSpPr txBox="1"/>
          <p:nvPr/>
        </p:nvSpPr>
        <p:spPr>
          <a:xfrm>
            <a:off x="7909560" y="2560320"/>
            <a:ext cx="3566160" cy="457199"/>
          </a:xfrm>
          <a:prstGeom prst="rect">
            <a:avLst/>
          </a:prstGeom>
          <a:noFill/>
        </p:spPr>
        <p:txBody>
          <a:bodyPr wrap="square" lIns="0" rIns="0" tIns="0" bIns="0" anchor="t">
            <a:spAutoFit/>
          </a:bodyPr>
          <a:lstStyle/>
          <a:p>
            <a:pPr algn="ctr">
              <a:lnSpc>
                <a:spcPct val="105000"/>
              </a:lnSpc>
              <a:spcAft>
                <a:spcPts val="0"/>
              </a:spcAft>
            </a:pPr>
            <a:r>
              <a:rPr sz="1300" b="0">
                <a:solidFill>
                  <a:srgbClr val="B3C0CF"/>
                </a:solidFill>
                <a:latin typeface="Segoe UI"/>
              </a:rPr>
              <a:t>healthy reference</a:t>
            </a:r>
          </a:p>
        </p:txBody>
      </p:sp>
      <p:sp>
        <p:nvSpPr>
          <p:cNvPr id="34" name="Rectangle 33"/>
          <p:cNvSpPr/>
          <p:nvPr/>
        </p:nvSpPr>
        <p:spPr>
          <a:xfrm>
            <a:off x="7772400" y="3291840"/>
            <a:ext cx="3840480" cy="1051560"/>
          </a:xfrm>
          <a:prstGeom prst="rect">
            <a:avLst/>
          </a:prstGeom>
          <a:solidFill>
            <a:srgbClr val="121B26"/>
          </a:solidFill>
          <a:ln w="15875">
            <a:solidFill>
              <a:srgbClr val="2632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09560" y="3419856"/>
            <a:ext cx="3566160" cy="365760"/>
          </a:xfrm>
          <a:prstGeom prst="rect">
            <a:avLst/>
          </a:prstGeom>
          <a:noFill/>
        </p:spPr>
        <p:txBody>
          <a:bodyPr wrap="square" lIns="0" rIns="0" tIns="0" bIns="0" anchor="t">
            <a:spAutoFit/>
          </a:bodyPr>
          <a:lstStyle/>
          <a:p>
            <a:pPr algn="ctr">
              <a:lnSpc>
                <a:spcPct val="110000"/>
              </a:lnSpc>
              <a:spcAft>
                <a:spcPts val="0"/>
              </a:spcAft>
            </a:pPr>
            <a:r>
              <a:rPr sz="1700" b="1">
                <a:solidFill>
                  <a:srgbClr val="35E0F0"/>
                </a:solidFill>
                <a:latin typeface="Consolas"/>
              </a:rPr>
              <a:t>ANALYTICS</a:t>
            </a:r>
          </a:p>
        </p:txBody>
      </p:sp>
      <p:sp>
        <p:nvSpPr>
          <p:cNvPr id="36" name="TextBox 35"/>
          <p:cNvSpPr txBox="1"/>
          <p:nvPr/>
        </p:nvSpPr>
        <p:spPr>
          <a:xfrm>
            <a:off x="7909560" y="3840480"/>
            <a:ext cx="3566160" cy="457199"/>
          </a:xfrm>
          <a:prstGeom prst="rect">
            <a:avLst/>
          </a:prstGeom>
          <a:noFill/>
        </p:spPr>
        <p:txBody>
          <a:bodyPr wrap="square" lIns="0" rIns="0" tIns="0" bIns="0" anchor="t">
            <a:spAutoFit/>
          </a:bodyPr>
          <a:lstStyle/>
          <a:p>
            <a:pPr algn="ctr">
              <a:lnSpc>
                <a:spcPct val="105000"/>
              </a:lnSpc>
              <a:spcAft>
                <a:spcPts val="0"/>
              </a:spcAft>
            </a:pPr>
            <a:r>
              <a:rPr sz="1300" b="0">
                <a:solidFill>
                  <a:srgbClr val="B3C0CF"/>
                </a:solidFill>
                <a:latin typeface="Segoe UI"/>
              </a:rPr>
              <a:t>unchanged for every source</a:t>
            </a:r>
          </a:p>
        </p:txBody>
      </p:sp>
      <p:sp>
        <p:nvSpPr>
          <p:cNvPr id="37" name="TextBox 36"/>
          <p:cNvSpPr txBox="1"/>
          <p:nvPr/>
        </p:nvSpPr>
        <p:spPr>
          <a:xfrm>
            <a:off x="4160520" y="4709160"/>
            <a:ext cx="7452360" cy="1280160"/>
          </a:xfrm>
          <a:prstGeom prst="rect">
            <a:avLst/>
          </a:prstGeom>
          <a:noFill/>
        </p:spPr>
        <p:txBody>
          <a:bodyPr wrap="square" lIns="0" rIns="0" tIns="0" bIns="0" anchor="t">
            <a:spAutoFit/>
          </a:bodyPr>
          <a:lstStyle/>
          <a:p>
            <a:pPr algn="l">
              <a:lnSpc>
                <a:spcPct val="115000"/>
              </a:lnSpc>
              <a:spcAft>
                <a:spcPts val="0"/>
              </a:spcAft>
            </a:pPr>
            <a:r>
              <a:rPr sz="1500" b="1">
                <a:solidFill>
                  <a:srgbClr val="3DDC84"/>
                </a:solidFill>
                <a:latin typeface="Segoe UI"/>
              </a:rPr>
              <a:t>Green</a:t>
            </a:r>
            <a:r>
              <a:rPr sz="1500" b="0">
                <a:solidFill>
                  <a:srgbClr val="B3C0CF"/>
                </a:solidFill>
                <a:latin typeface="Segoe UI"/>
              </a:rPr>
              <a:t> = tested end to end.   </a:t>
            </a:r>
            <a:r>
              <a:rPr sz="1500" b="1">
                <a:solidFill>
                  <a:srgbClr val="F5D547"/>
                </a:solidFill>
                <a:latin typeface="Segoe UI"/>
              </a:rPr>
              <a:t>Yellow</a:t>
            </a:r>
            <a:r>
              <a:rPr sz="1500" b="0">
                <a:solidFill>
                  <a:srgbClr val="B3C0CF"/>
                </a:solidFill>
                <a:latin typeface="Segoe UI"/>
              </a:rPr>
              <a:t> = built and tested on parsers and simulated streams; real hardware is the next step.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C131C"/>
        </a:solidFill>
        <a:effectLst/>
      </p:bgPr>
    </p:bg>
    <p:spTree>
      <p:nvGrpSpPr>
        <p:cNvPr id="1" name=""/>
        <p:cNvGrpSpPr/>
        <p:nvPr/>
      </p:nvGrpSpPr>
      <p:grpSpPr/>
      <p:sp>
        <p:nvSpPr>
          <p:cNvPr id="2" name="TextBox 1"/>
          <p:cNvSpPr txBox="1"/>
          <p:nvPr/>
        </p:nvSpPr>
        <p:spPr>
          <a:xfrm>
            <a:off x="548640" y="384048"/>
            <a:ext cx="7315200" cy="274320"/>
          </a:xfrm>
          <a:prstGeom prst="rect">
            <a:avLst/>
          </a:prstGeom>
          <a:noFill/>
        </p:spPr>
        <p:txBody>
          <a:bodyPr wrap="square" lIns="0" rIns="0" tIns="0" bIns="0" anchor="t">
            <a:spAutoFit/>
          </a:bodyPr>
          <a:lstStyle/>
          <a:p>
            <a:pPr algn="l">
              <a:lnSpc>
                <a:spcPct val="110000"/>
              </a:lnSpc>
              <a:spcAft>
                <a:spcPts val="0"/>
              </a:spcAft>
            </a:pPr>
            <a:r>
              <a:rPr sz="1200" b="1">
                <a:solidFill>
                  <a:srgbClr val="35E0F0"/>
                </a:solidFill>
                <a:latin typeface="Consolas"/>
              </a:rPr>
              <a:t>15 · HONEST LIMITS, CLEAR NEXT STEPS</a:t>
            </a:r>
          </a:p>
        </p:txBody>
      </p:sp>
      <p:sp>
        <p:nvSpPr>
          <p:cNvPr id="3" name="Rectangle 2"/>
          <p:cNvSpPr/>
          <p:nvPr/>
        </p:nvSpPr>
        <p:spPr>
          <a:xfrm>
            <a:off x="548640" y="6400800"/>
            <a:ext cx="11094415" cy="9144"/>
          </a:xfrm>
          <a:prstGeom prst="rect">
            <a:avLst/>
          </a:prstGeom>
          <a:solidFill>
            <a:srgbClr val="263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lnSpc>
                <a:spcPct val="110000"/>
              </a:lnSpc>
              <a:spcAft>
                <a:spcPts val="0"/>
              </a:spcAft>
            </a:pPr>
            <a:r>
              <a:rPr sz="1000" b="0">
                <a:solidFill>
                  <a:srgbClr val="7F8FA3"/>
                </a:solidFill>
                <a:latin typeface="Consolas"/>
              </a:rPr>
              <a:t>IGNISENSE  ·  TEAM REVORA</a:t>
            </a:r>
          </a:p>
        </p:txBody>
      </p:sp>
      <p:sp>
        <p:nvSpPr>
          <p:cNvPr id="5" name="TextBox 4"/>
          <p:cNvSpPr txBox="1"/>
          <p:nvPr/>
        </p:nvSpPr>
        <p:spPr>
          <a:xfrm>
            <a:off x="9814255" y="6473952"/>
            <a:ext cx="1828800" cy="228600"/>
          </a:xfrm>
          <a:prstGeom prst="rect">
            <a:avLst/>
          </a:prstGeom>
          <a:noFill/>
        </p:spPr>
        <p:txBody>
          <a:bodyPr wrap="square" lIns="0" rIns="0" tIns="0" bIns="0" anchor="t">
            <a:spAutoFit/>
          </a:bodyPr>
          <a:lstStyle/>
          <a:p>
            <a:pPr algn="r">
              <a:lnSpc>
                <a:spcPct val="110000"/>
              </a:lnSpc>
              <a:spcAft>
                <a:spcPts val="0"/>
              </a:spcAft>
            </a:pPr>
            <a:r>
              <a:rPr sz="1000" b="0">
                <a:solidFill>
                  <a:srgbClr val="7F8FA3"/>
                </a:solidFill>
                <a:latin typeface="Consolas"/>
              </a:rPr>
              <a:t>16 / 17</a:t>
            </a:r>
          </a:p>
        </p:txBody>
      </p:sp>
      <p:sp>
        <p:nvSpPr>
          <p:cNvPr id="6" name="TextBox 5"/>
          <p:cNvSpPr txBox="1"/>
          <p:nvPr/>
        </p:nvSpPr>
        <p:spPr>
          <a:xfrm>
            <a:off x="548640" y="713232"/>
            <a:ext cx="11064240" cy="914400"/>
          </a:xfrm>
          <a:prstGeom prst="rect">
            <a:avLst/>
          </a:prstGeom>
          <a:noFill/>
        </p:spPr>
        <p:txBody>
          <a:bodyPr wrap="square" lIns="0" rIns="0" tIns="0" bIns="0" anchor="t">
            <a:spAutoFit/>
          </a:bodyPr>
          <a:lstStyle/>
          <a:p>
            <a:pPr algn="l">
              <a:lnSpc>
                <a:spcPct val="100000"/>
              </a:lnSpc>
              <a:spcAft>
                <a:spcPts val="0"/>
              </a:spcAft>
            </a:pPr>
            <a:r>
              <a:rPr sz="3000" b="1">
                <a:solidFill>
                  <a:srgbClr val="EEF3F8"/>
                </a:solidFill>
                <a:latin typeface="Segoe UI"/>
              </a:rPr>
              <a:t>What it is not, and what comes next</a:t>
            </a:r>
          </a:p>
        </p:txBody>
      </p:sp>
      <p:sp>
        <p:nvSpPr>
          <p:cNvPr id="7" name="Rectangle 6"/>
          <p:cNvSpPr/>
          <p:nvPr/>
        </p:nvSpPr>
        <p:spPr>
          <a:xfrm>
            <a:off x="548640" y="1828800"/>
            <a:ext cx="5349240" cy="4160520"/>
          </a:xfrm>
          <a:prstGeom prst="rect">
            <a:avLst/>
          </a:prstGeom>
          <a:solidFill>
            <a:srgbClr val="121B26"/>
          </a:solidFill>
          <a:ln w="12700">
            <a:solidFill>
              <a:srgbClr val="2632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029968"/>
            <a:ext cx="4754880" cy="320040"/>
          </a:xfrm>
          <a:prstGeom prst="rect">
            <a:avLst/>
          </a:prstGeom>
          <a:noFill/>
        </p:spPr>
        <p:txBody>
          <a:bodyPr wrap="square" lIns="0" rIns="0" tIns="0" bIns="0" anchor="t">
            <a:spAutoFit/>
          </a:bodyPr>
          <a:lstStyle/>
          <a:p>
            <a:pPr algn="l">
              <a:lnSpc>
                <a:spcPct val="110000"/>
              </a:lnSpc>
              <a:spcAft>
                <a:spcPts val="0"/>
              </a:spcAft>
            </a:pPr>
            <a:r>
              <a:rPr sz="1300" b="1">
                <a:solidFill>
                  <a:srgbClr val="FF9A3C"/>
                </a:solidFill>
                <a:latin typeface="Consolas"/>
              </a:rPr>
              <a:t>LIMITS, STATED PLAINLY</a:t>
            </a:r>
          </a:p>
        </p:txBody>
      </p:sp>
      <p:sp>
        <p:nvSpPr>
          <p:cNvPr id="9" name="Rectangle 8"/>
          <p:cNvSpPr/>
          <p:nvPr/>
        </p:nvSpPr>
        <p:spPr>
          <a:xfrm>
            <a:off x="868680" y="2596896"/>
            <a:ext cx="100584" cy="100584"/>
          </a:xfrm>
          <a:prstGeom prst="rect">
            <a:avLst/>
          </a:prstGeom>
          <a:solidFill>
            <a:srgbClr val="FF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2514600"/>
            <a:ext cx="4480560" cy="512064"/>
          </a:xfrm>
          <a:prstGeom prst="rect">
            <a:avLst/>
          </a:prstGeom>
          <a:noFill/>
        </p:spPr>
        <p:txBody>
          <a:bodyPr wrap="square" lIns="0" rIns="0" tIns="0" bIns="0" anchor="t">
            <a:spAutoFit/>
          </a:bodyPr>
          <a:lstStyle/>
          <a:p>
            <a:pPr algn="l">
              <a:lnSpc>
                <a:spcPct val="105000"/>
              </a:lnSpc>
              <a:spcAft>
                <a:spcPts val="0"/>
              </a:spcAft>
            </a:pPr>
            <a:r>
              <a:rPr sz="1600" b="0">
                <a:solidFill>
                  <a:srgbClr val="B3C0CF"/>
                </a:solidFill>
                <a:latin typeface="Segoe UI"/>
              </a:rPr>
              <a:t>Synthetic telemetry; every value is demo calibration.</a:t>
            </a:r>
          </a:p>
        </p:txBody>
      </p:sp>
      <p:sp>
        <p:nvSpPr>
          <p:cNvPr id="11" name="Rectangle 10"/>
          <p:cNvSpPr/>
          <p:nvPr/>
        </p:nvSpPr>
        <p:spPr>
          <a:xfrm>
            <a:off x="868680" y="3210560"/>
            <a:ext cx="100584" cy="100584"/>
          </a:xfrm>
          <a:prstGeom prst="rect">
            <a:avLst/>
          </a:prstGeom>
          <a:solidFill>
            <a:srgbClr val="FF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3000" y="3128264"/>
            <a:ext cx="4480560" cy="512064"/>
          </a:xfrm>
          <a:prstGeom prst="rect">
            <a:avLst/>
          </a:prstGeom>
          <a:noFill/>
        </p:spPr>
        <p:txBody>
          <a:bodyPr wrap="square" lIns="0" rIns="0" tIns="0" bIns="0" anchor="t">
            <a:spAutoFit/>
          </a:bodyPr>
          <a:lstStyle/>
          <a:p>
            <a:pPr algn="l">
              <a:lnSpc>
                <a:spcPct val="105000"/>
              </a:lnSpc>
              <a:spcAft>
                <a:spcPts val="0"/>
              </a:spcAft>
            </a:pPr>
            <a:r>
              <a:rPr sz="1600" b="0">
                <a:solidFill>
                  <a:srgbClr val="B3C0CF"/>
                </a:solidFill>
                <a:latin typeface="Segoe UI"/>
              </a:rPr>
              <a:t>Lumped thermal model: one coolant, one oil temperature.</a:t>
            </a:r>
          </a:p>
        </p:txBody>
      </p:sp>
      <p:sp>
        <p:nvSpPr>
          <p:cNvPr id="13" name="Rectangle 12"/>
          <p:cNvSpPr/>
          <p:nvPr/>
        </p:nvSpPr>
        <p:spPr>
          <a:xfrm>
            <a:off x="868680" y="3824224"/>
            <a:ext cx="100584" cy="100584"/>
          </a:xfrm>
          <a:prstGeom prst="rect">
            <a:avLst/>
          </a:prstGeom>
          <a:solidFill>
            <a:srgbClr val="FF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3000" y="3741928"/>
            <a:ext cx="4480560" cy="512064"/>
          </a:xfrm>
          <a:prstGeom prst="rect">
            <a:avLst/>
          </a:prstGeom>
          <a:noFill/>
        </p:spPr>
        <p:txBody>
          <a:bodyPr wrap="square" lIns="0" rIns="0" tIns="0" bIns="0" anchor="t">
            <a:spAutoFit/>
          </a:bodyPr>
          <a:lstStyle/>
          <a:p>
            <a:pPr algn="l">
              <a:lnSpc>
                <a:spcPct val="105000"/>
              </a:lnSpc>
              <a:spcAft>
                <a:spcPts val="0"/>
              </a:spcAft>
            </a:pPr>
            <a:r>
              <a:rPr sz="1600" b="0">
                <a:solidFill>
                  <a:srgbClr val="B3C0CF"/>
                </a:solidFill>
                <a:latin typeface="Segoe UI"/>
              </a:rPr>
              <a:t>Evidence scores are weighted sums, not probabilities.</a:t>
            </a:r>
          </a:p>
        </p:txBody>
      </p:sp>
      <p:sp>
        <p:nvSpPr>
          <p:cNvPr id="15" name="Rectangle 14"/>
          <p:cNvSpPr/>
          <p:nvPr/>
        </p:nvSpPr>
        <p:spPr>
          <a:xfrm>
            <a:off x="868680" y="4437888"/>
            <a:ext cx="100584" cy="100584"/>
          </a:xfrm>
          <a:prstGeom prst="rect">
            <a:avLst/>
          </a:prstGeom>
          <a:solidFill>
            <a:srgbClr val="FF9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43000" y="4355592"/>
            <a:ext cx="4480560" cy="256032"/>
          </a:xfrm>
          <a:prstGeom prst="rect">
            <a:avLst/>
          </a:prstGeom>
          <a:noFill/>
        </p:spPr>
        <p:txBody>
          <a:bodyPr wrap="square" lIns="0" rIns="0" tIns="0" bIns="0" anchor="t">
            <a:spAutoFit/>
          </a:bodyPr>
          <a:lstStyle/>
          <a:p>
            <a:pPr algn="l">
              <a:lnSpc>
                <a:spcPct val="105000"/>
              </a:lnSpc>
              <a:spcAft>
                <a:spcPts val="0"/>
              </a:spcAft>
            </a:pPr>
            <a:r>
              <a:rPr sz="1600" b="0">
                <a:solidFill>
                  <a:srgbClr val="B3C0CF"/>
                </a:solidFill>
                <a:latin typeface="Segoe UI"/>
              </a:rPr>
              <a:t>Remaining life assumes the load continues.</a:t>
            </a:r>
          </a:p>
        </p:txBody>
      </p:sp>
      <p:sp>
        <p:nvSpPr>
          <p:cNvPr id="17" name="Rectangle 16"/>
          <p:cNvSpPr/>
          <p:nvPr/>
        </p:nvSpPr>
        <p:spPr>
          <a:xfrm>
            <a:off x="6291072" y="1828800"/>
            <a:ext cx="5349240" cy="4160520"/>
          </a:xfrm>
          <a:prstGeom prst="rect">
            <a:avLst/>
          </a:prstGeom>
          <a:solidFill>
            <a:srgbClr val="121B26"/>
          </a:solidFill>
          <a:ln w="19050">
            <a:solidFill>
              <a:srgbClr val="35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11112" y="2029968"/>
            <a:ext cx="4754880" cy="320040"/>
          </a:xfrm>
          <a:prstGeom prst="rect">
            <a:avLst/>
          </a:prstGeom>
          <a:noFill/>
        </p:spPr>
        <p:txBody>
          <a:bodyPr wrap="square" lIns="0" rIns="0" tIns="0" bIns="0" anchor="t">
            <a:spAutoFit/>
          </a:bodyPr>
          <a:lstStyle/>
          <a:p>
            <a:pPr algn="l">
              <a:lnSpc>
                <a:spcPct val="110000"/>
              </a:lnSpc>
              <a:spcAft>
                <a:spcPts val="0"/>
              </a:spcAft>
            </a:pPr>
            <a:r>
              <a:rPr sz="1300" b="1">
                <a:solidFill>
                  <a:srgbClr val="35E0F0"/>
                </a:solidFill>
                <a:latin typeface="Consolas"/>
              </a:rPr>
              <a:t>NEXT</a:t>
            </a:r>
          </a:p>
        </p:txBody>
      </p:sp>
      <p:sp>
        <p:nvSpPr>
          <p:cNvPr id="19" name="Rectangle 18"/>
          <p:cNvSpPr/>
          <p:nvPr/>
        </p:nvSpPr>
        <p:spPr>
          <a:xfrm>
            <a:off x="6611112" y="2596896"/>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85432" y="2514600"/>
            <a:ext cx="4480560" cy="512064"/>
          </a:xfrm>
          <a:prstGeom prst="rect">
            <a:avLst/>
          </a:prstGeom>
          <a:noFill/>
        </p:spPr>
        <p:txBody>
          <a:bodyPr wrap="square" lIns="0" rIns="0" tIns="0" bIns="0" anchor="t">
            <a:spAutoFit/>
          </a:bodyPr>
          <a:lstStyle/>
          <a:p>
            <a:pPr algn="l">
              <a:lnSpc>
                <a:spcPct val="105000"/>
              </a:lnSpc>
              <a:spcAft>
                <a:spcPts val="0"/>
              </a:spcAft>
            </a:pPr>
            <a:r>
              <a:rPr sz="1600" b="0">
                <a:solidFill>
                  <a:srgbClr val="B3C0CF"/>
                </a:solidFill>
                <a:latin typeface="Segoe UI"/>
              </a:rPr>
              <a:t>Heat-balance run on the college engine rig, to replace demo calibration with measured values.</a:t>
            </a:r>
          </a:p>
        </p:txBody>
      </p:sp>
      <p:sp>
        <p:nvSpPr>
          <p:cNvPr id="21" name="Rectangle 20"/>
          <p:cNvSpPr/>
          <p:nvPr/>
        </p:nvSpPr>
        <p:spPr>
          <a:xfrm>
            <a:off x="6611112" y="3210560"/>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85432" y="3128264"/>
            <a:ext cx="4480560" cy="512064"/>
          </a:xfrm>
          <a:prstGeom prst="rect">
            <a:avLst/>
          </a:prstGeom>
          <a:noFill/>
        </p:spPr>
        <p:txBody>
          <a:bodyPr wrap="square" lIns="0" rIns="0" tIns="0" bIns="0" anchor="t">
            <a:spAutoFit/>
          </a:bodyPr>
          <a:lstStyle/>
          <a:p>
            <a:pPr algn="l">
              <a:lnSpc>
                <a:spcPct val="105000"/>
              </a:lnSpc>
              <a:spcAft>
                <a:spcPts val="0"/>
              </a:spcAft>
            </a:pPr>
            <a:r>
              <a:rPr sz="1600" b="0">
                <a:solidFill>
                  <a:srgbClr val="B3C0CF"/>
                </a:solidFill>
                <a:latin typeface="Segoe UI"/>
              </a:rPr>
              <a:t>ESP32 with DS18B20, MAX31855, a pressure transducer and an ADXL345.</a:t>
            </a:r>
          </a:p>
        </p:txBody>
      </p:sp>
      <p:sp>
        <p:nvSpPr>
          <p:cNvPr id="23" name="Rectangle 22"/>
          <p:cNvSpPr/>
          <p:nvPr/>
        </p:nvSpPr>
        <p:spPr>
          <a:xfrm>
            <a:off x="6611112" y="3824224"/>
            <a:ext cx="100584" cy="100584"/>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85432" y="3741928"/>
            <a:ext cx="4480560" cy="512064"/>
          </a:xfrm>
          <a:prstGeom prst="rect">
            <a:avLst/>
          </a:prstGeom>
          <a:noFill/>
        </p:spPr>
        <p:txBody>
          <a:bodyPr wrap="square" lIns="0" rIns="0" tIns="0" bIns="0" anchor="t">
            <a:spAutoFit/>
          </a:bodyPr>
          <a:lstStyle/>
          <a:p>
            <a:pPr algn="l">
              <a:lnSpc>
                <a:spcPct val="105000"/>
              </a:lnSpc>
              <a:spcAft>
                <a:spcPts val="0"/>
              </a:spcAft>
            </a:pPr>
            <a:r>
              <a:rPr sz="1600" b="0">
                <a:solidFill>
                  <a:srgbClr val="B3C0CF"/>
                </a:solidFill>
                <a:latin typeface="Segoe UI"/>
              </a:rPr>
              <a:t>Log real failure data, then evaluate machine learning against our statistics.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C131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35E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028700" y="941832"/>
            <a:ext cx="411480" cy="493775"/>
          </a:xfrm>
          <a:custGeom>
            <a:avLst/>
            <a:gdLst/>
            <a:ahLst/>
            <a:cxnLst/>
            <a:rect l="l" t="t" r="r" b="b"/>
            <a:pathLst>
              <a:path w="411480" h="493775">
                <a:moveTo>
                  <a:pt x="82296" y="0"/>
                </a:moveTo>
                <a:lnTo>
                  <a:pt x="411480" y="0"/>
                </a:lnTo>
                <a:lnTo>
                  <a:pt x="329184" y="493775"/>
                </a:lnTo>
                <a:lnTo>
                  <a:pt x="0" y="493775"/>
                </a:lnTo>
                <a:close/>
              </a:path>
            </a:pathLst>
          </a:custGeom>
          <a:solidFill>
            <a:srgbClr val="35E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8457" y="1332738"/>
            <a:ext cx="123444" cy="123444"/>
          </a:xfrm>
          <a:prstGeom prst="rect">
            <a:avLst/>
          </a:prstGeom>
          <a:solidFill>
            <a:srgbClr val="FF4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783080" y="896112"/>
            <a:ext cx="5486400" cy="457200"/>
          </a:xfrm>
          <a:prstGeom prst="rect">
            <a:avLst/>
          </a:prstGeom>
          <a:noFill/>
        </p:spPr>
        <p:txBody>
          <a:bodyPr wrap="square" lIns="0" rIns="0" tIns="0" bIns="0" anchor="t">
            <a:spAutoFit/>
          </a:bodyPr>
          <a:lstStyle/>
          <a:p>
            <a:pPr algn="l">
              <a:lnSpc>
                <a:spcPct val="110000"/>
              </a:lnSpc>
              <a:spcAft>
                <a:spcPts val="0"/>
              </a:spcAft>
            </a:pPr>
            <a:r>
              <a:rPr sz="2200" b="1">
                <a:solidFill>
                  <a:srgbClr val="35E0F0"/>
                </a:solidFill>
                <a:latin typeface="Consolas"/>
              </a:rPr>
              <a:t>IGNISENSE</a:t>
            </a:r>
          </a:p>
        </p:txBody>
      </p:sp>
      <p:sp>
        <p:nvSpPr>
          <p:cNvPr id="6" name="TextBox 5"/>
          <p:cNvSpPr txBox="1"/>
          <p:nvPr/>
        </p:nvSpPr>
        <p:spPr>
          <a:xfrm>
            <a:off x="822960" y="2194560"/>
            <a:ext cx="10515600" cy="2194560"/>
          </a:xfrm>
          <a:prstGeom prst="rect">
            <a:avLst/>
          </a:prstGeom>
          <a:noFill/>
        </p:spPr>
        <p:txBody>
          <a:bodyPr wrap="square" lIns="0" rIns="0" tIns="0" bIns="0" anchor="t">
            <a:spAutoFit/>
          </a:bodyPr>
          <a:lstStyle/>
          <a:p>
            <a:pPr algn="l">
              <a:lnSpc>
                <a:spcPct val="95000"/>
              </a:lnSpc>
              <a:spcAft>
                <a:spcPts val="0"/>
              </a:spcAft>
            </a:pPr>
            <a:r>
              <a:rPr sz="7200" b="1">
                <a:solidFill>
                  <a:srgbClr val="EEF3F8"/>
                </a:solidFill>
                <a:latin typeface="Segoe UI"/>
              </a:rPr>
              <a:t>Pick a card.</a:t>
            </a:r>
          </a:p>
          <a:p>
            <a:pPr algn="l">
              <a:lnSpc>
                <a:spcPct val="95000"/>
              </a:lnSpc>
              <a:spcAft>
                <a:spcPts val="0"/>
              </a:spcAft>
            </a:pPr>
            <a:r>
              <a:rPr sz="7200" b="1">
                <a:solidFill>
                  <a:srgbClr val="35E0F0"/>
                </a:solidFill>
                <a:latin typeface="Segoe UI"/>
              </a:rPr>
              <a:t>We'll prove it.</a:t>
            </a:r>
          </a:p>
        </p:txBody>
      </p:sp>
      <p:sp>
        <p:nvSpPr>
          <p:cNvPr id="7" name="TextBox 6"/>
          <p:cNvSpPr txBox="1"/>
          <p:nvPr/>
        </p:nvSpPr>
        <p:spPr>
          <a:xfrm>
            <a:off x="822960" y="4754880"/>
            <a:ext cx="10058400" cy="457200"/>
          </a:xfrm>
          <a:prstGeom prst="rect">
            <a:avLst/>
          </a:prstGeom>
          <a:noFill/>
        </p:spPr>
        <p:txBody>
          <a:bodyPr wrap="square" lIns="0" rIns="0" tIns="0" bIns="0" anchor="t">
            <a:spAutoFit/>
          </a:bodyPr>
          <a:lstStyle/>
          <a:p>
            <a:pPr algn="l">
              <a:lnSpc>
                <a:spcPct val="110000"/>
              </a:lnSpc>
              <a:spcAft>
                <a:spcPts val="0"/>
              </a:spcAft>
            </a:pPr>
            <a:r>
              <a:rPr sz="2100" b="0">
                <a:solidFill>
                  <a:srgbClr val="B3C0CF"/>
                </a:solidFill>
                <a:latin typeface="Segoe UI"/>
              </a:rPr>
              <a:t>Ask us to inject any fault: the monitor only ever sees the sensors.</a:t>
            </a:r>
          </a:p>
        </p:txBody>
      </p:sp>
      <p:sp>
        <p:nvSpPr>
          <p:cNvPr id="8" name="TextBox 7"/>
          <p:cNvSpPr txBox="1"/>
          <p:nvPr/>
        </p:nvSpPr>
        <p:spPr>
          <a:xfrm>
            <a:off x="822960" y="5806440"/>
            <a:ext cx="5486400" cy="365760"/>
          </a:xfrm>
          <a:prstGeom prst="rect">
            <a:avLst/>
          </a:prstGeom>
          <a:noFill/>
        </p:spPr>
        <p:txBody>
          <a:bodyPr wrap="square" lIns="0" rIns="0" tIns="0" bIns="0" anchor="t">
            <a:spAutoFit/>
          </a:bodyPr>
          <a:lstStyle/>
          <a:p>
            <a:pPr algn="l">
              <a:lnSpc>
                <a:spcPct val="110000"/>
              </a:lnSpc>
              <a:spcAft>
                <a:spcPts val="0"/>
              </a:spcAft>
            </a:pPr>
            <a:r>
              <a:rPr sz="1600" b="1">
                <a:solidFill>
                  <a:srgbClr val="EEF3F8"/>
                </a:solidFill>
                <a:latin typeface="Consolas"/>
              </a:rPr>
              <a:t>TEAM REVORA</a:t>
            </a:r>
          </a:p>
        </p:txBody>
      </p:sp>
      <p:sp>
        <p:nvSpPr>
          <p:cNvPr id="9" name="TextBox 8"/>
          <p:cNvSpPr txBox="1"/>
          <p:nvPr/>
        </p:nvSpPr>
        <p:spPr>
          <a:xfrm>
            <a:off x="822960" y="6126480"/>
            <a:ext cx="8229600" cy="320040"/>
          </a:xfrm>
          <a:prstGeom prst="rect">
            <a:avLst/>
          </a:prstGeom>
          <a:noFill/>
        </p:spPr>
        <p:txBody>
          <a:bodyPr wrap="square" lIns="0" rIns="0" tIns="0" bIns="0" anchor="t">
            <a:spAutoFit/>
          </a:bodyPr>
          <a:lstStyle/>
          <a:p>
            <a:pPr algn="l">
              <a:lnSpc>
                <a:spcPct val="110000"/>
              </a:lnSpc>
              <a:spcAft>
                <a:spcPts val="0"/>
              </a:spcAft>
            </a:pPr>
            <a:r>
              <a:rPr sz="1200" b="0">
                <a:solidFill>
                  <a:srgbClr val="7F8FA3"/>
                </a:solidFill>
                <a:latin typeface="Consolas"/>
              </a:rPr>
              <a:t>IgniSense — Smart Engine Health Diagnostic  ·  all values are demo calibration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